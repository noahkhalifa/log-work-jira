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1" r:id="rId2"/>
    <p:sldId id="299" r:id="rId3"/>
    <p:sldId id="265" r:id="rId4"/>
    <p:sldId id="273" r:id="rId5"/>
    <p:sldId id="275" r:id="rId6"/>
    <p:sldId id="277" r:id="rId7"/>
    <p:sldId id="279" r:id="rId8"/>
    <p:sldId id="281" r:id="rId9"/>
    <p:sldId id="283" r:id="rId10"/>
    <p:sldId id="289" r:id="rId11"/>
    <p:sldId id="290" r:id="rId12"/>
    <p:sldId id="291" r:id="rId13"/>
    <p:sldId id="292" r:id="rId14"/>
    <p:sldId id="293" r:id="rId15"/>
    <p:sldId id="302" r:id="rId16"/>
    <p:sldId id="29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98" d="100"/>
          <a:sy n="98" d="100"/>
        </p:scale>
        <p:origin x="78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1CF25-E137-BF37-02F9-05C5717DAE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223118-27D5-0089-C293-69D5469223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40EC9-2B86-4048-5841-F400318D1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D14F-FB57-44E6-9FC4-7707969C8D15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60167-975F-9794-4A8F-8DD93B89C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5A1B4-62E3-03FA-C83D-433BE48E6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E92D6-5879-47E9-BD1C-10BFF94E2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648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9EE75-0E0D-9E10-13A0-AC47FB818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0D417-B380-5A9F-992F-FF1271406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D60A1-AC53-AC69-C6DF-A8F559381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D14F-FB57-44E6-9FC4-7707969C8D15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8ABCF-88DA-BA94-9336-62509567A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8D738-595A-831B-24AE-02EC2DBE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E92D6-5879-47E9-BD1C-10BFF94E2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68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6CAA5-AAF9-7C66-09D3-4F41D1AD9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619BF0-1873-DF7F-2B8E-9D53C894D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AE794-6A84-1297-EC5E-0321F0682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D14F-FB57-44E6-9FC4-7707969C8D15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FEAFA-A1AE-6323-A2E5-B41831B6F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6107C-E6D4-AD4C-FDCB-9F754C0F9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E92D6-5879-47E9-BD1C-10BFF94E2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7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E2930-AE59-5BBA-CECB-CA84052C0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4BAE9-DE98-1AAF-4919-9C8734CDBD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914122-C5AC-3A1B-456C-58A44828D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F9552-411E-6229-793B-A540F53A2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D14F-FB57-44E6-9FC4-7707969C8D15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7BFC78-E6B2-3442-7C1F-9BED9BA98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0AE504-4D0B-4716-EE14-5E861968E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E92D6-5879-47E9-BD1C-10BFF94E2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74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76567-C78E-E231-72DA-5CE226324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5410A-71D1-F751-30D6-18973C12D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3CE17-9A85-ABA6-03F6-0DA40E8C39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047E0B-8563-7767-8188-3E4970DD6E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2B8636-571A-8970-51D5-950BBEE397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096398-3127-CFD6-9375-F9B2BE09A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D14F-FB57-44E6-9FC4-7707969C8D15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3C2826-D551-9E36-AFFF-DC8251103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258A2E-A1D0-62AE-8804-F46712C00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E92D6-5879-47E9-BD1C-10BFF94E2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90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AE80A0-DEEF-91B7-47A4-8DB094FBC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D14F-FB57-44E6-9FC4-7707969C8D15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6FDAC5-A37C-2776-CA75-595A2B121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CBDD6-98B7-0FD1-41EB-D73D7DB89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E92D6-5879-47E9-BD1C-10BFF94E2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240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728FB-9384-6B6E-0237-54AECCFDF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28E2F-A17E-8C8B-7339-2303E2BC3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0A3FBB-A80F-21E2-70C8-815BC87AA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6BF619-7ADE-C1CE-0BDD-27F0DFF07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D14F-FB57-44E6-9FC4-7707969C8D15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36A20-4EAC-9A27-65CC-12A8B1E61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4199B7-89B9-2139-727C-2B5CA58C6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E92D6-5879-47E9-BD1C-10BFF94E2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850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B3443-1871-D8A9-9FFE-047C22EDA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4C3EB7-CD14-CB67-08E6-9131B2328F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BD33B5-5666-96C2-F5BC-FA185DFAB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1C7764-BEDB-1D80-2273-5FF5B44A2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D14F-FB57-44E6-9FC4-7707969C8D15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C9E21-024B-008A-D18E-EF0367CBF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7CA5EE-A400-E173-9B42-B9644BFCF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E92D6-5879-47E9-BD1C-10BFF94E2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716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0B776-9B3C-5EAF-825F-B3C69BA14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E2BE25-BE63-E5A1-FBD3-153EB9F36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6DFB8-B938-1839-8D10-CC85D4634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D14F-FB57-44E6-9FC4-7707969C8D15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1EF9A-656B-555E-6D33-451720FD4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772E4-BCB7-45B2-029E-706AB26D4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E92D6-5879-47E9-BD1C-10BFF94E2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541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17D26F-5499-354B-3C1D-FA43A4888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25B73B-061D-9F5E-F676-8F51557D84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848E9-E2DE-1E3E-2E9B-BC479714D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D14F-FB57-44E6-9FC4-7707969C8D15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4EAE0-84AB-B5C8-8932-215F6E200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C0FEB-80B2-6A8C-0882-323820878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E92D6-5879-47E9-BD1C-10BFF94E2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076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D4B6DF-3910-E919-CC00-1311E326F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D535C-35E8-F360-5D16-B0ACBB531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C6D38-714D-58E3-0837-4C191B0089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CAD14F-FB57-44E6-9FC4-7707969C8D15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1C7C6-3697-8BAD-D815-11291D308A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F0181-3972-A02A-987B-A2DFB82999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FE92D6-5879-47E9-BD1C-10BFF94E2F89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TopRedBar"/>
          <p:cNvSpPr/>
          <p:nvPr userDrawn="1"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EE003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LogoPlaceholder"/>
          <p:cNvSpPr/>
          <p:nvPr userDrawn="1"/>
        </p:nvSpPr>
        <p:spPr>
          <a:xfrm>
            <a:off x="304800" y="6400800"/>
            <a:ext cx="1524000" cy="27432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</a:pPr>
            <a:r>
              <a:rPr lang="en-US" sz="900" dirty="0">
                <a:solidFill>
                  <a:srgbClr val="EE0033"/>
                </a:solidFill>
                <a:latin typeface="Segoe UI Semibold"/>
              </a:rPr>
              <a:t>[LOGO VIETTEL]</a:t>
            </a:r>
          </a:p>
        </p:txBody>
      </p:sp>
    </p:spTree>
    <p:extLst>
      <p:ext uri="{BB962C8B-B14F-4D97-AF65-F5344CB8AC3E}">
        <p14:creationId xmlns:p14="http://schemas.microsoft.com/office/powerpoint/2010/main" val="1086427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33333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3333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3333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3333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333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333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C9507-D31F-B97D-459F-D971F2694C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4400" b="1" dirty="0">
                <a:solidFill>
                  <a:srgbClr val="EE0033"/>
                </a:solidFill>
                <a:latin typeface="Segoe UI Semibold"/>
              </a:rPr>
              <a:t>Jira Log Work Tool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A9D757-FC55-B5C1-B29A-1EE00E7A26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vi-VN" sz="2400" dirty="0">
                <a:solidFill>
                  <a:srgbClr val="333333"/>
                </a:solidFill>
                <a:latin typeface="Segoe UI"/>
              </a:rPr>
              <a:t>Hướng dẫn sử dụng</a:t>
            </a:r>
          </a:p>
          <a:p>
            <a:pPr algn="ctr">
              <a:buNone/>
            </a:pPr>
            <a:r>
              <a:rPr lang="vi-VN" sz="1600" dirty="0">
                <a:solidFill>
                  <a:srgbClr val="999999"/>
                </a:solidFill>
                <a:latin typeface="Segoe UI"/>
              </a:rPr>
              <a:t>Phần mềm nội bộ — Viettel</a:t>
            </a:r>
          </a:p>
        </p:txBody>
      </p:sp>
      <p:sp>
        <p:nvSpPr>
          <p:cNvPr id="10" name="BottomRedBar"/>
          <p:cNvSpPr/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EE0033"/>
          </a:solidFill>
          <a:ln w="0">
            <a:noFill/>
          </a:ln>
        </p:spPr>
        <p:txBody>
          <a:bodyPr anchor="ctr"/>
          <a:lstStyle/>
          <a:p>
            <a:pPr algn="ctr">
              <a:buNone/>
            </a:pPr>
            <a:r>
              <a:rPr lang="vi-VN" sz="1400" dirty="0">
                <a:solidFill>
                  <a:srgbClr val="FFFFFF"/>
                </a:solidFill>
                <a:latin typeface="Segoe UI"/>
              </a:rPr>
              <a:t>Log work hàng loạt — Nhanh, Chính xác, An toàn</a:t>
            </a:r>
          </a:p>
        </p:txBody>
      </p:sp>
      <p:sp>
        <p:nvSpPr>
          <p:cNvPr id="11" name="LogoTopRight"/>
          <p:cNvSpPr/>
          <p:nvPr/>
        </p:nvSpPr>
        <p:spPr>
          <a:xfrm>
            <a:off x="9906000" y="254000"/>
            <a:ext cx="1905000" cy="508000"/>
          </a:xfrm>
          <a:prstGeom prst="rect">
            <a:avLst/>
          </a:prstGeom>
          <a:noFill/>
          <a:ln w="9525">
            <a:solidFill>
              <a:srgbClr val="EE0033"/>
            </a:solidFill>
            <a:prstDash val="dash"/>
          </a:ln>
        </p:spPr>
        <p:txBody>
          <a:bodyPr lIns="36000" tIns="0" rIns="3600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EE0033"/>
                </a:solidFill>
                <a:latin typeface="Segoe UI Semibold"/>
              </a:rPr>
              <a:t>[LOGO VIETTEL]</a:t>
            </a:r>
          </a:p>
        </p:txBody>
      </p:sp>
    </p:spTree>
    <p:extLst>
      <p:ext uri="{BB962C8B-B14F-4D97-AF65-F5344CB8AC3E}">
        <p14:creationId xmlns:p14="http://schemas.microsoft.com/office/powerpoint/2010/main" val="227987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35000" y="254000"/>
            <a:ext cx="10922000" cy="762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buNone/>
            </a:pPr>
            <a:r>
              <a:rPr lang="vi-VN" sz="3200" b="1" dirty="0">
                <a:solidFill>
                  <a:srgbClr val="EE0033"/>
                </a:solidFill>
                <a:latin typeface="Segoe UI Semibold"/>
              </a:rPr>
              <a:t>Vấn đề &amp; Giải pháp</a:t>
            </a:r>
          </a:p>
        </p:txBody>
      </p:sp>
      <p:sp>
        <p:nvSpPr>
          <p:cNvPr id="10" name="Problem"/>
          <p:cNvSpPr/>
          <p:nvPr/>
        </p:nvSpPr>
        <p:spPr>
          <a:xfrm>
            <a:off x="635000" y="1270000"/>
            <a:ext cx="5207000" cy="4953000"/>
          </a:xfrm>
          <a:prstGeom prst="roundRect">
            <a:avLst>
              <a:gd name="adj" fmla="val 5000"/>
            </a:avLst>
          </a:prstGeom>
          <a:solidFill>
            <a:srgbClr val="FFF5F5"/>
          </a:solidFill>
          <a:ln w="12700">
            <a:solidFill>
              <a:srgbClr val="EE0033"/>
            </a:solidFill>
          </a:ln>
        </p:spPr>
        <p:txBody>
          <a:bodyPr lIns="90000" tIns="72000" rIns="90000" bIns="72000" anchor="t"/>
          <a:lstStyle/>
          <a:p>
            <a:pPr algn="ctr">
              <a:buNone/>
            </a:pPr>
            <a:r>
              <a:rPr lang="vi-VN" sz="2000" b="1" dirty="0">
                <a:solidFill>
                  <a:srgbClr val="EE0033"/>
                </a:solidFill>
                <a:latin typeface="Segoe UI Semibold"/>
              </a:rPr>
              <a:t>Trước đây</a:t>
            </a:r>
          </a:p>
          <a:p>
            <a:pPr algn="ctr">
              <a:buNone/>
            </a:pPr>
            <a:r>
              <a:rPr lang="vi-VN" sz="1600" dirty="0">
                <a:solidFill>
                  <a:srgbClr val="333333"/>
                </a:solidFill>
                <a:latin typeface="Segoe UI"/>
              </a:rPr>
              <a:t>Log từng issue</a:t>
            </a:r>
          </a:p>
          <a:p>
            <a:pPr algn="ctr">
              <a:buNone/>
            </a:pPr>
            <a:r>
              <a:rPr lang="vi-VN" sz="1600" dirty="0">
                <a:solidFill>
                  <a:srgbClr val="666666"/>
                </a:solidFill>
                <a:latin typeface="Segoe UI"/>
              </a:rPr>
              <a:t>Điền giờ → lưu</a:t>
            </a:r>
          </a:p>
          <a:p>
            <a:pPr algn="ctr">
              <a:buNone/>
            </a:pPr>
            <a:r>
              <a:rPr lang="vi-VN" sz="1600" dirty="0">
                <a:solidFill>
                  <a:srgbClr val="666666"/>
                </a:solidFill>
                <a:latin typeface="Segoe UI"/>
              </a:rPr>
              <a:t>Lặp 20–50 lần/tháng</a:t>
            </a:r>
          </a:p>
        </p:txBody>
      </p:sp>
      <p:sp>
        <p:nvSpPr>
          <p:cNvPr id="15" name="Arrow"/>
          <p:cNvSpPr/>
          <p:nvPr/>
        </p:nvSpPr>
        <p:spPr>
          <a:xfrm>
            <a:off x="5905500" y="3302000"/>
            <a:ext cx="381000" cy="381000"/>
          </a:xfrm>
          <a:prstGeom prst="rightArrow">
            <a:avLst/>
          </a:prstGeom>
          <a:solidFill>
            <a:srgbClr val="EE003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Solution"/>
          <p:cNvSpPr/>
          <p:nvPr/>
        </p:nvSpPr>
        <p:spPr>
          <a:xfrm>
            <a:off x="6350000" y="1270000"/>
            <a:ext cx="5207000" cy="4953000"/>
          </a:xfrm>
          <a:prstGeom prst="roundRect">
            <a:avLst>
              <a:gd name="adj" fmla="val 5000"/>
            </a:avLst>
          </a:prstGeom>
          <a:solidFill>
            <a:srgbClr val="F0FFF0"/>
          </a:solidFill>
          <a:ln w="12700">
            <a:solidFill>
              <a:srgbClr val="28A745"/>
            </a:solidFill>
          </a:ln>
        </p:spPr>
        <p:txBody>
          <a:bodyPr lIns="90000" tIns="72000" rIns="90000" bIns="72000" anchor="t"/>
          <a:lstStyle/>
          <a:p>
            <a:pPr algn="ctr">
              <a:buNone/>
            </a:pPr>
            <a:r>
              <a:rPr lang="vi-VN" sz="2000" b="1" dirty="0">
                <a:solidFill>
                  <a:srgbClr val="28A745"/>
                </a:solidFill>
                <a:latin typeface="Segoe UI Semibold"/>
              </a:rPr>
              <a:t>Bây giờ</a:t>
            </a:r>
          </a:p>
          <a:p>
            <a:pPr algn="ctr">
              <a:buNone/>
            </a:pPr>
            <a:r>
              <a:rPr lang="vi-VN" sz="1600" dirty="0">
                <a:solidFill>
                  <a:srgbClr val="333333"/>
                </a:solidFill>
                <a:latin typeface="Segoe UI"/>
              </a:rPr>
              <a:t>Chọn project</a:t>
            </a:r>
          </a:p>
          <a:p>
            <a:pPr algn="ctr">
              <a:buNone/>
            </a:pPr>
            <a:r>
              <a:rPr lang="vi-VN" sz="1600" dirty="0">
                <a:solidFill>
                  <a:srgbClr val="666666"/>
                </a:solidFill>
                <a:latin typeface="Segoe UI"/>
              </a:rPr>
              <a:t>Quét danh sách</a:t>
            </a:r>
          </a:p>
          <a:p>
            <a:pPr algn="ctr">
              <a:buNone/>
            </a:pPr>
            <a:r>
              <a:rPr lang="vi-VN" sz="1600" dirty="0">
                <a:solidFill>
                  <a:srgbClr val="666666"/>
                </a:solidFill>
                <a:latin typeface="Segoe UI"/>
              </a:rPr>
              <a:t>Log hàng loạt trong vài giây</a:t>
            </a:r>
          </a:p>
        </p:txBody>
      </p:sp>
      <p:sp>
        <p:nvSpPr>
          <p:cNvPr id="3" name="FlatX_1">
            <a:extLst>
              <a:ext uri="{FF2B5EF4-FFF2-40B4-BE49-F238E27FC236}">
                <a16:creationId xmlns:a16="http://schemas.microsoft.com/office/drawing/2014/main" id="{97A1BE88-069E-47F1-B3A8-753B887784F2}"/>
              </a:ext>
            </a:extLst>
          </p:cNvPr>
          <p:cNvSpPr/>
          <p:nvPr/>
        </p:nvSpPr>
        <p:spPr>
          <a:xfrm rot="2700000">
            <a:off x="2667000" y="3619500"/>
            <a:ext cx="1143000" cy="127000"/>
          </a:xfrm>
          <a:prstGeom prst="rect">
            <a:avLst/>
          </a:prstGeom>
          <a:solidFill>
            <a:srgbClr val="EE003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FlatX_2">
            <a:extLst>
              <a:ext uri="{FF2B5EF4-FFF2-40B4-BE49-F238E27FC236}">
                <a16:creationId xmlns:a16="http://schemas.microsoft.com/office/drawing/2014/main" id="{4205C9E0-0B83-47C0-A831-07EF39FF930B}"/>
              </a:ext>
            </a:extLst>
          </p:cNvPr>
          <p:cNvSpPr/>
          <p:nvPr/>
        </p:nvSpPr>
        <p:spPr>
          <a:xfrm rot="-2700000">
            <a:off x="2667000" y="3619500"/>
            <a:ext cx="1143000" cy="127000"/>
          </a:xfrm>
          <a:prstGeom prst="rect">
            <a:avLst/>
          </a:prstGeom>
          <a:solidFill>
            <a:srgbClr val="EE003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FlatCheck_1">
            <a:extLst>
              <a:ext uri="{FF2B5EF4-FFF2-40B4-BE49-F238E27FC236}">
                <a16:creationId xmlns:a16="http://schemas.microsoft.com/office/drawing/2014/main" id="{19329933-2C63-41EE-AC0D-EAD5624477A7}"/>
              </a:ext>
            </a:extLst>
          </p:cNvPr>
          <p:cNvSpPr/>
          <p:nvPr/>
        </p:nvSpPr>
        <p:spPr>
          <a:xfrm rot="2700000">
            <a:off x="8445500" y="3937000"/>
            <a:ext cx="533400" cy="127000"/>
          </a:xfrm>
          <a:prstGeom prst="rect">
            <a:avLst/>
          </a:prstGeom>
          <a:solidFill>
            <a:srgbClr val="28A74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FlatCheck_2">
            <a:extLst>
              <a:ext uri="{FF2B5EF4-FFF2-40B4-BE49-F238E27FC236}">
                <a16:creationId xmlns:a16="http://schemas.microsoft.com/office/drawing/2014/main" id="{76CF2F07-BB08-4F88-9270-0316A484C27D}"/>
              </a:ext>
            </a:extLst>
          </p:cNvPr>
          <p:cNvSpPr/>
          <p:nvPr/>
        </p:nvSpPr>
        <p:spPr>
          <a:xfrm rot="-2700000">
            <a:off x="8813800" y="3746500"/>
            <a:ext cx="1206500" cy="127000"/>
          </a:xfrm>
          <a:prstGeom prst="rect">
            <a:avLst/>
          </a:prstGeom>
          <a:solidFill>
            <a:srgbClr val="28A74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57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35000" y="317500"/>
            <a:ext cx="10922000" cy="762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buNone/>
            </a:pPr>
            <a:r>
              <a:rPr lang="vi-VN" sz="3200" b="1" dirty="0">
                <a:solidFill>
                  <a:srgbClr val="EE0033"/>
                </a:solidFill>
                <a:latin typeface="Segoe UI Semibold"/>
              </a:rPr>
              <a:t>Quy trình 4 bước</a:t>
            </a:r>
          </a:p>
        </p:txBody>
      </p:sp>
      <p:sp>
        <p:nvSpPr>
          <p:cNvPr id="3" name="Subtitle"/>
          <p:cNvSpPr/>
          <p:nvPr/>
        </p:nvSpPr>
        <p:spPr>
          <a:xfrm>
            <a:off x="635000" y="1079500"/>
            <a:ext cx="10922000" cy="444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buNone/>
            </a:pPr>
            <a:r>
              <a:rPr lang="vi-VN" sz="1600" dirty="0">
                <a:solidFill>
                  <a:srgbClr val="999999"/>
                </a:solidFill>
                <a:latin typeface="Segoe UI"/>
              </a:rPr>
              <a:t>Giao diện mở dần theo tiến độ</a:t>
            </a:r>
          </a:p>
        </p:txBody>
      </p:sp>
      <p:sp>
        <p:nvSpPr>
          <p:cNvPr id="20" name="Circle1"/>
          <p:cNvSpPr/>
          <p:nvPr/>
        </p:nvSpPr>
        <p:spPr>
          <a:xfrm>
            <a:off x="1809750" y="1841500"/>
            <a:ext cx="762000" cy="762000"/>
          </a:xfrm>
          <a:prstGeom prst="ellipse">
            <a:avLst/>
          </a:prstGeom>
          <a:solidFill>
            <a:srgbClr val="EE0033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30" name="Card1"/>
          <p:cNvSpPr/>
          <p:nvPr/>
        </p:nvSpPr>
        <p:spPr>
          <a:xfrm>
            <a:off x="1047750" y="2794000"/>
            <a:ext cx="2286000" cy="2603500"/>
          </a:xfrm>
          <a:prstGeom prst="roundRect">
            <a:avLst>
              <a:gd name="adj" fmla="val 5000"/>
            </a:avLst>
          </a:prstGeom>
          <a:solidFill>
            <a:srgbClr val="F9F9F9"/>
          </a:solidFill>
          <a:ln w="9525">
            <a:solidFill>
              <a:srgbClr val="EEEEEE"/>
            </a:solidFill>
          </a:ln>
        </p:spPr>
        <p:txBody>
          <a:bodyPr lIns="72000" tIns="54000" rIns="72000" bIns="54000" anchor="ctr"/>
          <a:lstStyle/>
          <a:p>
            <a:pPr algn="ctr">
              <a:buNone/>
            </a:pPr>
            <a:r>
              <a:rPr lang="vi-VN" sz="1800" b="1" dirty="0">
                <a:solidFill>
                  <a:srgbClr val="333333"/>
                </a:solidFill>
                <a:latin typeface="Segoe UI Semibold"/>
              </a:rPr>
              <a:t>Đăng nhập</a:t>
            </a:r>
          </a:p>
          <a:p>
            <a:pPr algn="ctr">
              <a:buNone/>
            </a:pPr>
            <a:r>
              <a:rPr lang="vi-VN" sz="1400" dirty="0">
                <a:solidFill>
                  <a:srgbClr val="999999"/>
                </a:solidFill>
                <a:latin typeface="Segoe UI"/>
              </a:rPr>
              <a:t>Tài khoản Jira</a:t>
            </a:r>
          </a:p>
        </p:txBody>
      </p:sp>
      <p:sp>
        <p:nvSpPr>
          <p:cNvPr id="40" name="Line0"/>
          <p:cNvSpPr/>
          <p:nvPr/>
        </p:nvSpPr>
        <p:spPr>
          <a:xfrm>
            <a:off x="3333750" y="2197100"/>
            <a:ext cx="317500" cy="50800"/>
          </a:xfrm>
          <a:prstGeom prst="rect">
            <a:avLst/>
          </a:prstGeom>
          <a:solidFill>
            <a:srgbClr val="EE0033">
              <a:alpha val="40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Circle2"/>
          <p:cNvSpPr/>
          <p:nvPr/>
        </p:nvSpPr>
        <p:spPr>
          <a:xfrm>
            <a:off x="4413250" y="1841500"/>
            <a:ext cx="762000" cy="762000"/>
          </a:xfrm>
          <a:prstGeom prst="ellipse">
            <a:avLst/>
          </a:prstGeom>
          <a:solidFill>
            <a:srgbClr val="EE0033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31" name="Card2"/>
          <p:cNvSpPr/>
          <p:nvPr/>
        </p:nvSpPr>
        <p:spPr>
          <a:xfrm>
            <a:off x="3651250" y="2794000"/>
            <a:ext cx="2286000" cy="2603500"/>
          </a:xfrm>
          <a:prstGeom prst="roundRect">
            <a:avLst>
              <a:gd name="adj" fmla="val 5000"/>
            </a:avLst>
          </a:prstGeom>
          <a:solidFill>
            <a:srgbClr val="F9F9F9"/>
          </a:solidFill>
          <a:ln w="9525">
            <a:solidFill>
              <a:srgbClr val="EEEEEE"/>
            </a:solidFill>
          </a:ln>
        </p:spPr>
        <p:txBody>
          <a:bodyPr lIns="72000" tIns="54000" rIns="72000" bIns="54000" anchor="ctr"/>
          <a:lstStyle/>
          <a:p>
            <a:pPr algn="ctr">
              <a:buNone/>
            </a:pPr>
            <a:r>
              <a:rPr lang="vi-VN" sz="1800" b="1" dirty="0">
                <a:solidFill>
                  <a:srgbClr val="333333"/>
                </a:solidFill>
                <a:latin typeface="Segoe UI Semibold"/>
              </a:rPr>
              <a:t>Chọn &amp; Quét</a:t>
            </a:r>
          </a:p>
          <a:p>
            <a:pPr algn="ctr">
              <a:buNone/>
            </a:pPr>
            <a:r>
              <a:rPr lang="vi-VN" sz="1400" dirty="0">
                <a:solidFill>
                  <a:srgbClr val="999999"/>
                </a:solidFill>
                <a:latin typeface="Segoe UI"/>
              </a:rPr>
              <a:t>Project → JQL → Issues</a:t>
            </a:r>
          </a:p>
        </p:txBody>
      </p:sp>
      <p:sp>
        <p:nvSpPr>
          <p:cNvPr id="41" name="Line1"/>
          <p:cNvSpPr/>
          <p:nvPr/>
        </p:nvSpPr>
        <p:spPr>
          <a:xfrm>
            <a:off x="5937250" y="2197100"/>
            <a:ext cx="317500" cy="50800"/>
          </a:xfrm>
          <a:prstGeom prst="rect">
            <a:avLst/>
          </a:prstGeom>
          <a:solidFill>
            <a:srgbClr val="EE0033">
              <a:alpha val="40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Circle3"/>
          <p:cNvSpPr/>
          <p:nvPr/>
        </p:nvSpPr>
        <p:spPr>
          <a:xfrm>
            <a:off x="7016750" y="1841500"/>
            <a:ext cx="762000" cy="762000"/>
          </a:xfrm>
          <a:prstGeom prst="ellipse">
            <a:avLst/>
          </a:prstGeom>
          <a:solidFill>
            <a:srgbClr val="EE0033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2" name="Card3"/>
          <p:cNvSpPr/>
          <p:nvPr/>
        </p:nvSpPr>
        <p:spPr>
          <a:xfrm>
            <a:off x="6254750" y="2794000"/>
            <a:ext cx="2286000" cy="2603500"/>
          </a:xfrm>
          <a:prstGeom prst="roundRect">
            <a:avLst>
              <a:gd name="adj" fmla="val 5000"/>
            </a:avLst>
          </a:prstGeom>
          <a:solidFill>
            <a:srgbClr val="F9F9F9"/>
          </a:solidFill>
          <a:ln w="9525">
            <a:solidFill>
              <a:srgbClr val="EEEEEE"/>
            </a:solidFill>
          </a:ln>
        </p:spPr>
        <p:txBody>
          <a:bodyPr lIns="72000" tIns="54000" rIns="72000" bIns="54000" anchor="ctr"/>
          <a:lstStyle/>
          <a:p>
            <a:pPr algn="ctr">
              <a:buNone/>
            </a:pPr>
            <a:r>
              <a:rPr lang="vi-VN" sz="1800" b="1" dirty="0">
                <a:solidFill>
                  <a:srgbClr val="333333"/>
                </a:solidFill>
                <a:latin typeface="Segoe UI Semibold"/>
              </a:rPr>
              <a:t>Cấu hình</a:t>
            </a:r>
          </a:p>
          <a:p>
            <a:pPr algn="ctr">
              <a:buNone/>
            </a:pPr>
            <a:r>
              <a:rPr lang="vi-VN" sz="1400" dirty="0">
                <a:solidFill>
                  <a:srgbClr val="999999"/>
                </a:solidFill>
                <a:latin typeface="Segoe UI"/>
              </a:rPr>
              <a:t>Giờ, mô tả, field</a:t>
            </a:r>
          </a:p>
        </p:txBody>
      </p:sp>
      <p:sp>
        <p:nvSpPr>
          <p:cNvPr id="42" name="Line2"/>
          <p:cNvSpPr/>
          <p:nvPr/>
        </p:nvSpPr>
        <p:spPr>
          <a:xfrm>
            <a:off x="8540750" y="2197100"/>
            <a:ext cx="317500" cy="50800"/>
          </a:xfrm>
          <a:prstGeom prst="rect">
            <a:avLst/>
          </a:prstGeom>
          <a:solidFill>
            <a:srgbClr val="EE0033">
              <a:alpha val="40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Circle4"/>
          <p:cNvSpPr/>
          <p:nvPr/>
        </p:nvSpPr>
        <p:spPr>
          <a:xfrm>
            <a:off x="9620250" y="1841500"/>
            <a:ext cx="762000" cy="762000"/>
          </a:xfrm>
          <a:prstGeom prst="ellipse">
            <a:avLst/>
          </a:prstGeom>
          <a:solidFill>
            <a:srgbClr val="EE0033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3" name="Card4"/>
          <p:cNvSpPr/>
          <p:nvPr/>
        </p:nvSpPr>
        <p:spPr>
          <a:xfrm>
            <a:off x="8858250" y="2794000"/>
            <a:ext cx="2286000" cy="2603500"/>
          </a:xfrm>
          <a:prstGeom prst="roundRect">
            <a:avLst>
              <a:gd name="adj" fmla="val 5000"/>
            </a:avLst>
          </a:prstGeom>
          <a:solidFill>
            <a:srgbClr val="F9F9F9"/>
          </a:solidFill>
          <a:ln w="9525">
            <a:solidFill>
              <a:srgbClr val="EEEEEE"/>
            </a:solidFill>
          </a:ln>
        </p:spPr>
        <p:txBody>
          <a:bodyPr lIns="72000" tIns="54000" rIns="72000" bIns="54000" anchor="ctr"/>
          <a:lstStyle/>
          <a:p>
            <a:pPr algn="ctr">
              <a:buNone/>
            </a:pPr>
            <a:r>
              <a:rPr lang="vi-VN" sz="1800" b="1" dirty="0">
                <a:solidFill>
                  <a:srgbClr val="333333"/>
                </a:solidFill>
                <a:latin typeface="Segoe UI Semibold"/>
              </a:rPr>
              <a:t>Thực thi</a:t>
            </a:r>
          </a:p>
          <a:p>
            <a:pPr algn="ctr">
              <a:buNone/>
            </a:pPr>
            <a:r>
              <a:rPr lang="vi-VN" sz="1400" dirty="0">
                <a:solidFill>
                  <a:srgbClr val="999999"/>
                </a:solidFill>
                <a:latin typeface="Segoe UI"/>
              </a:rPr>
              <a:t>Log work hàng loạt</a:t>
            </a:r>
          </a:p>
        </p:txBody>
      </p:sp>
      <p:sp>
        <p:nvSpPr>
          <p:cNvPr id="50" name="Note"/>
          <p:cNvSpPr/>
          <p:nvPr/>
        </p:nvSpPr>
        <p:spPr>
          <a:xfrm>
            <a:off x="1270000" y="5842000"/>
            <a:ext cx="9652000" cy="508000"/>
          </a:xfrm>
          <a:prstGeom prst="roundRect">
            <a:avLst>
              <a:gd name="adj" fmla="val 16667"/>
            </a:avLst>
          </a:prstGeom>
          <a:solidFill>
            <a:srgbClr val="FFF5F5"/>
          </a:solidFill>
          <a:ln w="0">
            <a:noFill/>
          </a:ln>
        </p:spPr>
        <p:txBody>
          <a:bodyPr lIns="72000" rIns="72000" anchor="ctr"/>
          <a:lstStyle/>
          <a:p>
            <a:pPr algn="ctr">
              <a:buNone/>
            </a:pPr>
            <a:r>
              <a:rPr lang="vi-VN" sz="1400" dirty="0">
                <a:solidFill>
                  <a:srgbClr val="EE0033"/>
                </a:solidFill>
                <a:latin typeface="Segoe UI"/>
              </a:rPr>
              <a:t>Truy cập: http://10.110.10.202:3005 — Không cần cài đặt</a:t>
            </a:r>
          </a:p>
        </p:txBody>
      </p:sp>
    </p:spTree>
    <p:extLst>
      <p:ext uri="{BB962C8B-B14F-4D97-AF65-F5344CB8AC3E}">
        <p14:creationId xmlns:p14="http://schemas.microsoft.com/office/powerpoint/2010/main" val="982246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70500" y="1270000"/>
            <a:ext cx="1651000" cy="1651000"/>
          </a:xfrm>
          <a:prstGeom prst="rect">
            <a:avLst/>
          </a:prstGeom>
        </p:spPr>
      </p:pic>
      <p:sp>
        <p:nvSpPr>
          <p:cNvPr id="10" name="Label"/>
          <p:cNvSpPr/>
          <p:nvPr/>
        </p:nvSpPr>
        <p:spPr>
          <a:xfrm>
            <a:off x="635000" y="317500"/>
            <a:ext cx="2540000" cy="381000"/>
          </a:xfrm>
          <a:prstGeom prst="roundRect">
            <a:avLst>
              <a:gd name="adj" fmla="val 16667"/>
            </a:avLst>
          </a:prstGeom>
          <a:solidFill>
            <a:srgbClr val="EE0033"/>
          </a:solidFill>
          <a:ln w="0">
            <a:noFill/>
          </a:ln>
        </p:spPr>
        <p:txBody>
          <a:bodyPr lIns="36000" tIns="0" rIns="36000" bIns="0" anchor="ctr"/>
          <a:lstStyle/>
          <a:p>
            <a:pPr algn="ctr">
              <a:buNone/>
            </a:pPr>
            <a:r>
              <a:rPr lang="vi-VN" sz="1200" b="1" dirty="0">
                <a:solidFill>
                  <a:srgbClr val="FFFFFF"/>
                </a:solidFill>
                <a:latin typeface="Segoe UI Semibold"/>
              </a:rPr>
              <a:t>TÍNH NĂNG 1</a:t>
            </a:r>
          </a:p>
        </p:txBody>
      </p:sp>
      <p:sp>
        <p:nvSpPr>
          <p:cNvPr id="11" name="Title"/>
          <p:cNvSpPr/>
          <p:nvPr/>
        </p:nvSpPr>
        <p:spPr>
          <a:xfrm>
            <a:off x="1270000" y="3302000"/>
            <a:ext cx="9652000" cy="762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buNone/>
            </a:pPr>
            <a:r>
              <a:rPr lang="vi-VN" sz="2800" b="1" dirty="0">
                <a:solidFill>
                  <a:srgbClr val="333333"/>
                </a:solidFill>
                <a:latin typeface="Segoe UI Semibold"/>
              </a:rPr>
              <a:t>Log work hàng loạt</a:t>
            </a:r>
          </a:p>
        </p:txBody>
      </p:sp>
      <p:sp>
        <p:nvSpPr>
          <p:cNvPr id="12" name="Desc"/>
          <p:cNvSpPr/>
          <p:nvPr/>
        </p:nvSpPr>
        <p:spPr>
          <a:xfrm>
            <a:off x="1905000" y="4191000"/>
            <a:ext cx="8382000" cy="635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ctr">
              <a:buNone/>
            </a:pPr>
            <a:r>
              <a:rPr lang="vi-VN" sz="1800" dirty="0">
                <a:solidFill>
                  <a:srgbClr val="666666"/>
                </a:solidFill>
                <a:latin typeface="Segoe UI"/>
              </a:rPr>
              <a:t>Xử lý nhiều sub-task chỉ với 1 lần bấm</a:t>
            </a:r>
          </a:p>
        </p:txBody>
      </p:sp>
      <p:sp>
        <p:nvSpPr>
          <p:cNvPr id="13" name="AccentLine"/>
          <p:cNvSpPr/>
          <p:nvPr/>
        </p:nvSpPr>
        <p:spPr>
          <a:xfrm>
            <a:off x="4826000" y="5080000"/>
            <a:ext cx="2540000" cy="38100"/>
          </a:xfrm>
          <a:prstGeom prst="rect">
            <a:avLst/>
          </a:prstGeom>
          <a:solidFill>
            <a:srgbClr val="EE003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Compare"/>
          <p:cNvSpPr/>
          <p:nvPr/>
        </p:nvSpPr>
        <p:spPr>
          <a:xfrm>
            <a:off x="2540000" y="5334000"/>
            <a:ext cx="7112000" cy="762000"/>
          </a:xfrm>
          <a:prstGeom prst="roundRect">
            <a:avLst>
              <a:gd name="adj" fmla="val 16667"/>
            </a:avLst>
          </a:prstGeom>
          <a:solidFill>
            <a:srgbClr val="F9F9F9"/>
          </a:solidFill>
          <a:ln w="0">
            <a:noFill/>
          </a:ln>
        </p:spPr>
        <p:txBody>
          <a:bodyPr lIns="72000" rIns="72000" anchor="ctr"/>
          <a:lstStyle/>
          <a:p>
            <a:pPr algn="ctr">
              <a:buNone/>
            </a:pPr>
            <a:r>
              <a:rPr lang="vi-VN" sz="1400" dirty="0">
                <a:solidFill>
                  <a:srgbClr val="EE0033"/>
                </a:solidFill>
                <a:latin typeface="Segoe UI"/>
              </a:rPr>
              <a:t>20 issue × 5 phút = 100 phút</a:t>
            </a:r>
            <a:r>
              <a:rPr lang="vi-VN" sz="1400" dirty="0">
                <a:solidFill>
                  <a:srgbClr val="999999"/>
                </a:solidFill>
                <a:latin typeface="Segoe UI"/>
              </a:rPr>
              <a:t>  →  </a:t>
            </a:r>
            <a:r>
              <a:rPr lang="vi-VN" sz="1400" b="1" dirty="0">
                <a:solidFill>
                  <a:srgbClr val="28A745"/>
                </a:solidFill>
                <a:latin typeface="Segoe UI Semibold"/>
              </a:rPr>
              <a:t>20 issue × 1 bấm = 30 giây</a:t>
            </a:r>
          </a:p>
        </p:txBody>
      </p:sp>
    </p:spTree>
    <p:extLst>
      <p:ext uri="{BB962C8B-B14F-4D97-AF65-F5344CB8AC3E}">
        <p14:creationId xmlns:p14="http://schemas.microsoft.com/office/powerpoint/2010/main" val="746687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70500" y="1270000"/>
            <a:ext cx="1651000" cy="1651000"/>
          </a:xfrm>
          <a:prstGeom prst="rect">
            <a:avLst/>
          </a:prstGeom>
        </p:spPr>
      </p:pic>
      <p:sp>
        <p:nvSpPr>
          <p:cNvPr id="10" name="Label"/>
          <p:cNvSpPr/>
          <p:nvPr/>
        </p:nvSpPr>
        <p:spPr>
          <a:xfrm>
            <a:off x="635000" y="317500"/>
            <a:ext cx="2540000" cy="381000"/>
          </a:xfrm>
          <a:prstGeom prst="roundRect">
            <a:avLst>
              <a:gd name="adj" fmla="val 16667"/>
            </a:avLst>
          </a:prstGeom>
          <a:solidFill>
            <a:srgbClr val="EE0033"/>
          </a:solidFill>
          <a:ln w="0">
            <a:noFill/>
          </a:ln>
        </p:spPr>
        <p:txBody>
          <a:bodyPr lIns="36000" tIns="0" rIns="36000" bIns="0" anchor="ctr"/>
          <a:lstStyle/>
          <a:p>
            <a:pPr algn="ctr">
              <a:buNone/>
            </a:pPr>
            <a:r>
              <a:rPr lang="vi-VN" sz="1200" b="1" dirty="0">
                <a:solidFill>
                  <a:srgbClr val="FFFFFF"/>
                </a:solidFill>
                <a:latin typeface="Segoe UI Semibold"/>
              </a:rPr>
              <a:t>TÍNH NĂNG 2</a:t>
            </a:r>
          </a:p>
        </p:txBody>
      </p:sp>
      <p:sp>
        <p:nvSpPr>
          <p:cNvPr id="11" name="Title"/>
          <p:cNvSpPr/>
          <p:nvPr/>
        </p:nvSpPr>
        <p:spPr>
          <a:xfrm>
            <a:off x="1270000" y="3302000"/>
            <a:ext cx="9652000" cy="762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buNone/>
            </a:pPr>
            <a:r>
              <a:rPr lang="vi-VN" sz="2800" b="1" dirty="0">
                <a:solidFill>
                  <a:srgbClr val="333333"/>
                </a:solidFill>
                <a:latin typeface="Segoe UI Semibold"/>
              </a:rPr>
              <a:t>Tự sinh JQL chuẩn</a:t>
            </a:r>
          </a:p>
        </p:txBody>
      </p:sp>
      <p:sp>
        <p:nvSpPr>
          <p:cNvPr id="12" name="Desc"/>
          <p:cNvSpPr/>
          <p:nvPr/>
        </p:nvSpPr>
        <p:spPr>
          <a:xfrm>
            <a:off x="1905000" y="4191000"/>
            <a:ext cx="8382000" cy="635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buNone/>
            </a:pPr>
            <a:r>
              <a:rPr lang="vi-VN" sz="1800" dirty="0">
                <a:solidFill>
                  <a:srgbClr val="666666"/>
                </a:solidFill>
                <a:latin typeface="Segoe UI"/>
              </a:rPr>
              <a:t>Tự lọc sub-task của bạn, trạng thái Done, chưa log giờ</a:t>
            </a:r>
          </a:p>
        </p:txBody>
      </p:sp>
      <p:sp>
        <p:nvSpPr>
          <p:cNvPr id="13" name="Line"/>
          <p:cNvSpPr/>
          <p:nvPr/>
        </p:nvSpPr>
        <p:spPr>
          <a:xfrm>
            <a:off x="4826000" y="5080000"/>
            <a:ext cx="2540000" cy="38100"/>
          </a:xfrm>
          <a:prstGeom prst="rect">
            <a:avLst/>
          </a:prstGeom>
          <a:solidFill>
            <a:srgbClr val="EE003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Note"/>
          <p:cNvSpPr/>
          <p:nvPr/>
        </p:nvSpPr>
        <p:spPr>
          <a:xfrm>
            <a:off x="2540000" y="5334000"/>
            <a:ext cx="7112000" cy="762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buNone/>
            </a:pPr>
            <a:r>
              <a:rPr lang="vi-VN" sz="1400" dirty="0">
                <a:solidFill>
                  <a:srgbClr val="999999"/>
                </a:solidFill>
                <a:latin typeface="Segoe UI"/>
              </a:rPr>
              <a:t>Vẫn cho phép sửa JQL tự do nếu cần</a:t>
            </a:r>
          </a:p>
        </p:txBody>
      </p:sp>
    </p:spTree>
    <p:extLst>
      <p:ext uri="{BB962C8B-B14F-4D97-AF65-F5344CB8AC3E}">
        <p14:creationId xmlns:p14="http://schemas.microsoft.com/office/powerpoint/2010/main" val="3455344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70500" y="1270000"/>
            <a:ext cx="1651000" cy="1651000"/>
          </a:xfrm>
          <a:prstGeom prst="rect">
            <a:avLst/>
          </a:prstGeom>
        </p:spPr>
      </p:pic>
      <p:sp>
        <p:nvSpPr>
          <p:cNvPr id="10" name="Label"/>
          <p:cNvSpPr/>
          <p:nvPr/>
        </p:nvSpPr>
        <p:spPr>
          <a:xfrm>
            <a:off x="635000" y="317500"/>
            <a:ext cx="2540000" cy="381000"/>
          </a:xfrm>
          <a:prstGeom prst="roundRect">
            <a:avLst>
              <a:gd name="adj" fmla="val 16667"/>
            </a:avLst>
          </a:prstGeom>
          <a:solidFill>
            <a:srgbClr val="EE0033"/>
          </a:solidFill>
          <a:ln w="0">
            <a:noFill/>
          </a:ln>
        </p:spPr>
        <p:txBody>
          <a:bodyPr lIns="36000" tIns="0" rIns="36000" bIns="0" anchor="ctr"/>
          <a:lstStyle/>
          <a:p>
            <a:pPr algn="ctr">
              <a:buNone/>
            </a:pPr>
            <a:r>
              <a:rPr lang="vi-VN" sz="1200" b="1" dirty="0">
                <a:solidFill>
                  <a:srgbClr val="FFFFFF"/>
                </a:solidFill>
                <a:latin typeface="Segoe UI Semibold"/>
              </a:rPr>
              <a:t>TÍNH NĂNG 3</a:t>
            </a:r>
          </a:p>
        </p:txBody>
      </p:sp>
      <p:sp>
        <p:nvSpPr>
          <p:cNvPr id="11" name="Title"/>
          <p:cNvSpPr/>
          <p:nvPr/>
        </p:nvSpPr>
        <p:spPr>
          <a:xfrm>
            <a:off x="1270000" y="3302000"/>
            <a:ext cx="9652000" cy="762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buNone/>
            </a:pPr>
            <a:r>
              <a:rPr lang="vi-VN" sz="2800" b="1" dirty="0">
                <a:solidFill>
                  <a:srgbClr val="333333"/>
                </a:solidFill>
                <a:latin typeface="Segoe UI Semibold"/>
              </a:rPr>
              <a:t>Quét &amp; Xem trước</a:t>
            </a:r>
          </a:p>
        </p:txBody>
      </p:sp>
      <p:sp>
        <p:nvSpPr>
          <p:cNvPr id="12" name="Desc"/>
          <p:cNvSpPr/>
          <p:nvPr/>
        </p:nvSpPr>
        <p:spPr>
          <a:xfrm>
            <a:off x="1270000" y="4191000"/>
            <a:ext cx="9652000" cy="635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ctr">
              <a:buNone/>
            </a:pPr>
            <a:r>
              <a:rPr lang="vi-VN" sz="1800" dirty="0">
                <a:solidFill>
                  <a:srgbClr val="666666"/>
                </a:solidFill>
                <a:latin typeface="Segoe UI"/>
              </a:rPr>
              <a:t>Danh sách issue kèm TÊN — biết rõ đang chọn việc gì</a:t>
            </a:r>
          </a:p>
        </p:txBody>
      </p:sp>
      <p:sp>
        <p:nvSpPr>
          <p:cNvPr id="13" name="Line"/>
          <p:cNvSpPr/>
          <p:nvPr/>
        </p:nvSpPr>
        <p:spPr>
          <a:xfrm>
            <a:off x="4826000" y="5080000"/>
            <a:ext cx="2540000" cy="38100"/>
          </a:xfrm>
          <a:prstGeom prst="rect">
            <a:avLst/>
          </a:prstGeom>
          <a:solidFill>
            <a:srgbClr val="EE003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Note"/>
          <p:cNvSpPr/>
          <p:nvPr/>
        </p:nvSpPr>
        <p:spPr>
          <a:xfrm>
            <a:off x="2540000" y="5334000"/>
            <a:ext cx="711200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ctr">
              <a:buNone/>
            </a:pPr>
            <a:r>
              <a:rPr lang="vi-VN" sz="1400" dirty="0">
                <a:solidFill>
                  <a:srgbClr val="999999"/>
                </a:solidFill>
                <a:latin typeface="Segoe UI"/>
              </a:rPr>
              <a:t>Dropdown hiển thị ISSUE KEY — Tên việc</a:t>
            </a:r>
          </a:p>
        </p:txBody>
      </p:sp>
    </p:spTree>
    <p:extLst>
      <p:ext uri="{BB962C8B-B14F-4D97-AF65-F5344CB8AC3E}">
        <p14:creationId xmlns:p14="http://schemas.microsoft.com/office/powerpoint/2010/main" val="2799381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70500" y="1270000"/>
            <a:ext cx="1651000" cy="1651000"/>
          </a:xfrm>
          <a:prstGeom prst="rect">
            <a:avLst/>
          </a:prstGeom>
        </p:spPr>
      </p:pic>
      <p:sp>
        <p:nvSpPr>
          <p:cNvPr id="10" name="Label"/>
          <p:cNvSpPr/>
          <p:nvPr/>
        </p:nvSpPr>
        <p:spPr>
          <a:xfrm>
            <a:off x="635000" y="317500"/>
            <a:ext cx="2540000" cy="381000"/>
          </a:xfrm>
          <a:prstGeom prst="roundRect">
            <a:avLst>
              <a:gd name="adj" fmla="val 16667"/>
            </a:avLst>
          </a:prstGeom>
          <a:solidFill>
            <a:srgbClr val="EE0033"/>
          </a:solidFill>
          <a:ln w="0">
            <a:noFill/>
          </a:ln>
        </p:spPr>
        <p:txBody>
          <a:bodyPr lIns="36000" tIns="0" rIns="36000" bIns="0" anchor="ctr"/>
          <a:lstStyle/>
          <a:p>
            <a:pPr algn="ctr">
              <a:buNone/>
            </a:pPr>
            <a:r>
              <a:rPr lang="vi-VN" sz="1200" b="1" dirty="0">
                <a:solidFill>
                  <a:srgbClr val="FFFFFF"/>
                </a:solidFill>
                <a:latin typeface="Segoe UI Semibold"/>
              </a:rPr>
              <a:t>TÍNH NĂNG 4</a:t>
            </a:r>
          </a:p>
        </p:txBody>
      </p:sp>
      <p:sp>
        <p:nvSpPr>
          <p:cNvPr id="11" name="Title"/>
          <p:cNvSpPr/>
          <p:nvPr/>
        </p:nvSpPr>
        <p:spPr>
          <a:xfrm>
            <a:off x="1270000" y="3302000"/>
            <a:ext cx="9652000" cy="762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buNone/>
            </a:pPr>
            <a:r>
              <a:rPr lang="vi-VN" sz="2800" b="1" dirty="0">
                <a:solidFill>
                  <a:srgbClr val="333333"/>
                </a:solidFill>
                <a:latin typeface="Segoe UI Semibold"/>
              </a:rPr>
              <a:t>Xem chi tiết issue</a:t>
            </a:r>
          </a:p>
        </p:txBody>
      </p:sp>
      <p:sp>
        <p:nvSpPr>
          <p:cNvPr id="12" name="Desc"/>
          <p:cNvSpPr/>
          <p:nvPr/>
        </p:nvSpPr>
        <p:spPr>
          <a:xfrm>
            <a:off x="1270000" y="4191000"/>
            <a:ext cx="9652000" cy="635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ctr">
              <a:buNone/>
            </a:pPr>
            <a:r>
              <a:rPr lang="vi-VN" sz="1800" dirty="0">
                <a:solidFill>
                  <a:srgbClr val="666666"/>
                </a:solidFill>
                <a:latin typeface="Segoe UI"/>
              </a:rPr>
              <a:t>Tên, trạng thái, issue cha, thời gian ước lượng</a:t>
            </a:r>
          </a:p>
        </p:txBody>
      </p:sp>
      <p:sp>
        <p:nvSpPr>
          <p:cNvPr id="13" name="Line"/>
          <p:cNvSpPr/>
          <p:nvPr/>
        </p:nvSpPr>
        <p:spPr>
          <a:xfrm>
            <a:off x="4826000" y="5080000"/>
            <a:ext cx="2540000" cy="38100"/>
          </a:xfrm>
          <a:prstGeom prst="rect">
            <a:avLst/>
          </a:prstGeom>
          <a:solidFill>
            <a:srgbClr val="EE003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Note"/>
          <p:cNvSpPr/>
          <p:nvPr/>
        </p:nvSpPr>
        <p:spPr>
          <a:xfrm>
            <a:off x="2540000" y="5334000"/>
            <a:ext cx="711200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ctr">
              <a:buNone/>
            </a:pPr>
            <a:r>
              <a:rPr lang="vi-VN" sz="1400" dirty="0">
                <a:solidFill>
                  <a:srgbClr val="999999"/>
                </a:solidFill>
                <a:latin typeface="Segoe UI"/>
              </a:rPr>
              <a:t>Kiểm tra kỹ trước khi log work</a:t>
            </a:r>
          </a:p>
        </p:txBody>
      </p:sp>
    </p:spTree>
    <p:extLst>
      <p:ext uri="{BB962C8B-B14F-4D97-AF65-F5344CB8AC3E}">
        <p14:creationId xmlns:p14="http://schemas.microsoft.com/office/powerpoint/2010/main" val="522970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70500" y="1270000"/>
            <a:ext cx="1651000" cy="1651000"/>
          </a:xfrm>
          <a:prstGeom prst="rect">
            <a:avLst/>
          </a:prstGeom>
        </p:spPr>
      </p:pic>
      <p:sp>
        <p:nvSpPr>
          <p:cNvPr id="10" name="Label"/>
          <p:cNvSpPr/>
          <p:nvPr/>
        </p:nvSpPr>
        <p:spPr>
          <a:xfrm>
            <a:off x="635000" y="317500"/>
            <a:ext cx="2540000" cy="381000"/>
          </a:xfrm>
          <a:prstGeom prst="roundRect">
            <a:avLst>
              <a:gd name="adj" fmla="val 16667"/>
            </a:avLst>
          </a:prstGeom>
          <a:solidFill>
            <a:srgbClr val="EE0033"/>
          </a:solidFill>
          <a:ln w="0">
            <a:noFill/>
          </a:ln>
        </p:spPr>
        <p:txBody>
          <a:bodyPr lIns="36000" tIns="0" rIns="36000" bIns="0" anchor="ctr"/>
          <a:lstStyle/>
          <a:p>
            <a:pPr algn="ctr">
              <a:buNone/>
            </a:pPr>
            <a:r>
              <a:rPr lang="vi-VN" sz="1200" b="1" dirty="0">
                <a:solidFill>
                  <a:srgbClr val="FFFFFF"/>
                </a:solidFill>
                <a:latin typeface="Segoe UI Semibold"/>
              </a:rPr>
              <a:t>TÍNH NĂNG 5</a:t>
            </a:r>
          </a:p>
        </p:txBody>
      </p:sp>
      <p:sp>
        <p:nvSpPr>
          <p:cNvPr id="11" name="Title"/>
          <p:cNvSpPr/>
          <p:nvPr/>
        </p:nvSpPr>
        <p:spPr>
          <a:xfrm>
            <a:off x="1270000" y="3302000"/>
            <a:ext cx="9652000" cy="762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buNone/>
            </a:pPr>
            <a:r>
              <a:rPr lang="vi-VN" sz="2800" b="1" dirty="0">
                <a:solidFill>
                  <a:srgbClr val="333333"/>
                </a:solidFill>
                <a:latin typeface="Segoe UI Semibold"/>
              </a:rPr>
              <a:t>Tiến trình thời gian thực</a:t>
            </a:r>
          </a:p>
        </p:txBody>
      </p:sp>
      <p:sp>
        <p:nvSpPr>
          <p:cNvPr id="12" name="Desc"/>
          <p:cNvSpPr/>
          <p:nvPr/>
        </p:nvSpPr>
        <p:spPr>
          <a:xfrm>
            <a:off x="1270000" y="4191000"/>
            <a:ext cx="9652000" cy="635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ctr">
              <a:buNone/>
            </a:pPr>
            <a:r>
              <a:rPr lang="vi-VN" sz="1800" dirty="0">
                <a:solidFill>
                  <a:srgbClr val="666666"/>
                </a:solidFill>
                <a:latin typeface="Segoe UI"/>
              </a:rPr>
              <a:t>Thanh % và log từng issue thành công/lỗi ngay lập tức</a:t>
            </a:r>
          </a:p>
        </p:txBody>
      </p:sp>
      <p:sp>
        <p:nvSpPr>
          <p:cNvPr id="13" name="Line"/>
          <p:cNvSpPr/>
          <p:nvPr/>
        </p:nvSpPr>
        <p:spPr>
          <a:xfrm>
            <a:off x="4826000" y="5080000"/>
            <a:ext cx="2540000" cy="38100"/>
          </a:xfrm>
          <a:prstGeom prst="rect">
            <a:avLst/>
          </a:prstGeom>
          <a:solidFill>
            <a:srgbClr val="EE003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BarBg"/>
          <p:cNvSpPr/>
          <p:nvPr/>
        </p:nvSpPr>
        <p:spPr>
          <a:xfrm>
            <a:off x="2921000" y="5334000"/>
            <a:ext cx="6350000" cy="2540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BarFill"/>
          <p:cNvSpPr/>
          <p:nvPr/>
        </p:nvSpPr>
        <p:spPr>
          <a:xfrm>
            <a:off x="2921000" y="5334000"/>
            <a:ext cx="4762500" cy="254000"/>
          </a:xfrm>
          <a:prstGeom prst="roundRect">
            <a:avLst>
              <a:gd name="adj" fmla="val 50000"/>
            </a:avLst>
          </a:prstGeom>
          <a:solidFill>
            <a:srgbClr val="EE0033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 Semibold"/>
              </a:rPr>
              <a:t>75%</a:t>
            </a:r>
          </a:p>
        </p:txBody>
      </p:sp>
      <p:sp>
        <p:nvSpPr>
          <p:cNvPr id="17" name="Indicators"/>
          <p:cNvSpPr/>
          <p:nvPr/>
        </p:nvSpPr>
        <p:spPr>
          <a:xfrm>
            <a:off x="3556000" y="5778500"/>
            <a:ext cx="508000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buNone/>
            </a:pPr>
            <a:r>
              <a:rPr lang="vi-VN" sz="1400" dirty="0">
                <a:solidFill>
                  <a:srgbClr val="28A745"/>
                </a:solidFill>
                <a:latin typeface="Segoe UI"/>
              </a:rPr>
              <a:t>✅ Thành công</a:t>
            </a:r>
            <a:r>
              <a:rPr lang="vi-VN" sz="1400" dirty="0">
                <a:solidFill>
                  <a:srgbClr val="999999"/>
                </a:solidFill>
                <a:latin typeface="Segoe UI"/>
              </a:rPr>
              <a:t>   |   </a:t>
            </a:r>
            <a:r>
              <a:rPr lang="vi-VN" sz="1400" dirty="0">
                <a:solidFill>
                  <a:srgbClr val="EE0033"/>
                </a:solidFill>
                <a:latin typeface="Segoe UI"/>
              </a:rPr>
              <a:t>❌ Lỗi</a:t>
            </a:r>
          </a:p>
        </p:txBody>
      </p:sp>
    </p:spTree>
    <p:extLst>
      <p:ext uri="{BB962C8B-B14F-4D97-AF65-F5344CB8AC3E}">
        <p14:creationId xmlns:p14="http://schemas.microsoft.com/office/powerpoint/2010/main" val="3044058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70500" y="1270000"/>
            <a:ext cx="1651000" cy="1651000"/>
          </a:xfrm>
          <a:prstGeom prst="rect">
            <a:avLst/>
          </a:prstGeom>
        </p:spPr>
      </p:pic>
      <p:sp>
        <p:nvSpPr>
          <p:cNvPr id="10" name="Label"/>
          <p:cNvSpPr/>
          <p:nvPr/>
        </p:nvSpPr>
        <p:spPr>
          <a:xfrm>
            <a:off x="635000" y="317500"/>
            <a:ext cx="2540000" cy="381000"/>
          </a:xfrm>
          <a:prstGeom prst="roundRect">
            <a:avLst>
              <a:gd name="adj" fmla="val 16667"/>
            </a:avLst>
          </a:prstGeom>
          <a:solidFill>
            <a:srgbClr val="EE0033"/>
          </a:solidFill>
          <a:ln w="0">
            <a:noFill/>
          </a:ln>
        </p:spPr>
        <p:txBody>
          <a:bodyPr lIns="36000" tIns="0" rIns="36000" bIns="0" anchor="ctr"/>
          <a:lstStyle/>
          <a:p>
            <a:pPr algn="ctr">
              <a:buNone/>
            </a:pPr>
            <a:r>
              <a:rPr lang="vi-VN" sz="1200" b="1" dirty="0">
                <a:solidFill>
                  <a:srgbClr val="FFFFFF"/>
                </a:solidFill>
                <a:latin typeface="Segoe UI Semibold"/>
              </a:rPr>
              <a:t>TÍNH NĂNG 6</a:t>
            </a:r>
          </a:p>
        </p:txBody>
      </p:sp>
      <p:sp>
        <p:nvSpPr>
          <p:cNvPr id="11" name="Title"/>
          <p:cNvSpPr/>
          <p:nvPr/>
        </p:nvSpPr>
        <p:spPr>
          <a:xfrm>
            <a:off x="1270000" y="3302000"/>
            <a:ext cx="9652000" cy="762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buNone/>
            </a:pPr>
            <a:r>
              <a:rPr lang="vi-VN" sz="2800" b="1" dirty="0">
                <a:solidFill>
                  <a:srgbClr val="333333"/>
                </a:solidFill>
                <a:latin typeface="Segoe UI Semibold"/>
              </a:rPr>
              <a:t>Không cần cài đặt</a:t>
            </a:r>
          </a:p>
        </p:txBody>
      </p:sp>
      <p:sp>
        <p:nvSpPr>
          <p:cNvPr id="12" name="Desc"/>
          <p:cNvSpPr/>
          <p:nvPr/>
        </p:nvSpPr>
        <p:spPr>
          <a:xfrm>
            <a:off x="1270000" y="4191000"/>
            <a:ext cx="9652000" cy="635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ctr">
              <a:buNone/>
            </a:pPr>
            <a:r>
              <a:rPr lang="vi-VN" sz="1800" dirty="0">
                <a:solidFill>
                  <a:srgbClr val="666666"/>
                </a:solidFill>
                <a:latin typeface="Segoe UI"/>
              </a:rPr>
              <a:t>Chỉ mở trình duyệt — không cần phần mềm trên máy</a:t>
            </a:r>
          </a:p>
        </p:txBody>
      </p:sp>
      <p:sp>
        <p:nvSpPr>
          <p:cNvPr id="13" name="Line"/>
          <p:cNvSpPr/>
          <p:nvPr/>
        </p:nvSpPr>
        <p:spPr>
          <a:xfrm>
            <a:off x="4826000" y="5080000"/>
            <a:ext cx="2540000" cy="38100"/>
          </a:xfrm>
          <a:prstGeom prst="rect">
            <a:avLst/>
          </a:prstGeom>
          <a:solidFill>
            <a:srgbClr val="EE003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URLBox"/>
          <p:cNvSpPr/>
          <p:nvPr/>
        </p:nvSpPr>
        <p:spPr>
          <a:xfrm>
            <a:off x="2921000" y="5334000"/>
            <a:ext cx="6350000" cy="571500"/>
          </a:xfrm>
          <a:prstGeom prst="roundRect">
            <a:avLst>
              <a:gd name="adj" fmla="val 16667"/>
            </a:avLst>
          </a:prstGeom>
          <a:solidFill>
            <a:srgbClr val="F9F9F9"/>
          </a:solidFill>
          <a:ln w="9525">
            <a:solidFill>
              <a:srgbClr val="DDDDDD"/>
            </a:solidFill>
          </a:ln>
        </p:spPr>
        <p:txBody>
          <a:bodyPr lIns="72000" rIns="72000" anchor="ctr"/>
          <a:lstStyle/>
          <a:p>
            <a:pPr algn="ctr">
              <a:buNone/>
            </a:pPr>
            <a:r>
              <a:rPr lang="en-US" sz="1600" dirty="0">
                <a:solidFill>
                  <a:srgbClr val="EE0033"/>
                </a:solidFill>
                <a:latin typeface="Consolas"/>
              </a:rPr>
              <a:t>http://10.110.10.202:3005</a:t>
            </a:r>
          </a:p>
        </p:txBody>
      </p:sp>
    </p:spTree>
    <p:extLst>
      <p:ext uri="{BB962C8B-B14F-4D97-AF65-F5344CB8AC3E}">
        <p14:creationId xmlns:p14="http://schemas.microsoft.com/office/powerpoint/2010/main" val="1413132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Badge"/>
          <p:cNvSpPr/>
          <p:nvPr/>
        </p:nvSpPr>
        <p:spPr>
          <a:xfrm>
            <a:off x="635000" y="190500"/>
            <a:ext cx="3048000" cy="355600"/>
          </a:xfrm>
          <a:prstGeom prst="roundRect">
            <a:avLst>
              <a:gd name="adj" fmla="val 16667"/>
            </a:avLst>
          </a:prstGeom>
          <a:solidFill>
            <a:srgbClr val="EE0033"/>
          </a:solidFill>
          <a:ln w="0">
            <a:noFill/>
          </a:ln>
        </p:spPr>
        <p:txBody>
          <a:bodyPr lIns="36000" tIns="0" rIns="36000" bIns="0" anchor="ctr"/>
          <a:lstStyle/>
          <a:p>
            <a:pPr algn="ctr">
              <a:buNone/>
            </a:pPr>
            <a:r>
              <a:rPr lang="vi-VN" sz="1100" b="1" dirty="0">
                <a:solidFill>
                  <a:srgbClr val="FFFFFF"/>
                </a:solidFill>
                <a:latin typeface="Segoe UI Semibold"/>
              </a:rPr>
              <a:t>CÁC BƯỚC SỬ DỤNG</a:t>
            </a:r>
          </a:p>
        </p:txBody>
      </p:sp>
      <p:sp>
        <p:nvSpPr>
          <p:cNvPr id="6" name="StepCircle"/>
          <p:cNvSpPr/>
          <p:nvPr/>
        </p:nvSpPr>
        <p:spPr>
          <a:xfrm>
            <a:off x="635000" y="762000"/>
            <a:ext cx="762000" cy="762000"/>
          </a:xfrm>
          <a:prstGeom prst="ellipse">
            <a:avLst/>
          </a:prstGeom>
          <a:solidFill>
            <a:srgbClr val="EE0033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 Semibold"/>
              </a:rPr>
              <a:t>0</a:t>
            </a:r>
          </a:p>
        </p:txBody>
      </p:sp>
      <p:sp>
        <p:nvSpPr>
          <p:cNvPr id="7" name="StepTitle"/>
          <p:cNvSpPr/>
          <p:nvPr/>
        </p:nvSpPr>
        <p:spPr>
          <a:xfrm>
            <a:off x="1587500" y="762000"/>
            <a:ext cx="6350000" cy="762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</a:pPr>
            <a:r>
              <a:rPr lang="vi-VN" sz="2800" b="1" dirty="0">
                <a:solidFill>
                  <a:srgbClr val="333333"/>
                </a:solidFill>
                <a:latin typeface="Segoe UI Semibold"/>
              </a:rPr>
              <a:t>Truy cập</a:t>
            </a:r>
          </a:p>
        </p:txBody>
      </p:sp>
      <p:sp>
        <p:nvSpPr>
          <p:cNvPr id="8" name="Instruction"/>
          <p:cNvSpPr/>
          <p:nvPr/>
        </p:nvSpPr>
        <p:spPr>
          <a:xfrm>
            <a:off x="635000" y="1651000"/>
            <a:ext cx="2159000" cy="635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buNone/>
            </a:pPr>
            <a:r>
              <a:rPr lang="vi-VN" sz="1600" dirty="0">
                <a:solidFill>
                  <a:srgbClr val="666666"/>
                </a:solidFill>
                <a:latin typeface="Segoe UI"/>
              </a:rPr>
              <a:t>Mở trình duyệt → vào địa chỉ bên dưới</a:t>
            </a:r>
          </a:p>
        </p:txBody>
      </p:sp>
      <p:sp>
        <p:nvSpPr>
          <p:cNvPr id="9" name="ScreenshotPlaceholder"/>
          <p:cNvSpPr/>
          <p:nvPr/>
        </p:nvSpPr>
        <p:spPr>
          <a:xfrm>
            <a:off x="635000" y="2476500"/>
            <a:ext cx="10922000" cy="3556000"/>
          </a:xfrm>
          <a:prstGeom prst="roundRect">
            <a:avLst>
              <a:gd name="adj" fmla="val 3000"/>
            </a:avLst>
          </a:prstGeom>
          <a:solidFill>
            <a:srgbClr val="F9F9F9"/>
          </a:solidFill>
          <a:ln w="12700">
            <a:solidFill>
              <a:srgbClr val="DDDDDD"/>
            </a:solidFill>
            <a:prstDash val="dash"/>
          </a:ln>
        </p:spPr>
        <p:txBody>
          <a:bodyPr anchor="ctr"/>
          <a:lstStyle/>
          <a:p>
            <a:pPr algn="ctr">
              <a:buNone/>
            </a:pPr>
            <a:r>
              <a:rPr lang="vi-VN" sz="1600" dirty="0">
                <a:solidFill>
                  <a:srgbClr val="BBBBBB"/>
                </a:solidFill>
                <a:latin typeface="Segoe UI"/>
              </a:rPr>
              <a:t>[ẢNH CHỤP MÀN HÌNH: Giao diện chính sau khi mở trình duyệt]</a:t>
            </a:r>
          </a:p>
        </p:txBody>
      </p:sp>
      <p:sp>
        <p:nvSpPr>
          <p:cNvPr id="20" name="URLNote"/>
          <p:cNvSpPr/>
          <p:nvPr/>
        </p:nvSpPr>
        <p:spPr>
          <a:xfrm>
            <a:off x="2921000" y="1714500"/>
            <a:ext cx="6350000" cy="508000"/>
          </a:xfrm>
          <a:prstGeom prst="roundRect">
            <a:avLst>
              <a:gd name="adj" fmla="val 16667"/>
            </a:avLst>
          </a:prstGeom>
          <a:solidFill>
            <a:srgbClr val="FFF5F5"/>
          </a:solidFill>
          <a:ln w="0">
            <a:noFill/>
          </a:ln>
        </p:spPr>
        <p:txBody>
          <a:bodyPr lIns="72000" rIns="72000" anchor="ctr"/>
          <a:lstStyle/>
          <a:p>
            <a:pPr algn="ctr">
              <a:buNone/>
            </a:pPr>
            <a:r>
              <a:rPr lang="en-US" sz="1600" b="1" dirty="0">
                <a:solidFill>
                  <a:srgbClr val="EE0033"/>
                </a:solidFill>
                <a:latin typeface="Consolas"/>
              </a:rPr>
              <a:t>http://10.110.10.202:3005</a:t>
            </a:r>
          </a:p>
        </p:txBody>
      </p:sp>
    </p:spTree>
    <p:extLst>
      <p:ext uri="{BB962C8B-B14F-4D97-AF65-F5344CB8AC3E}">
        <p14:creationId xmlns:p14="http://schemas.microsoft.com/office/powerpoint/2010/main" val="2942602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dge"/>
          <p:cNvSpPr/>
          <p:nvPr/>
        </p:nvSpPr>
        <p:spPr>
          <a:xfrm>
            <a:off x="635000" y="190500"/>
            <a:ext cx="3048000" cy="355600"/>
          </a:xfrm>
          <a:prstGeom prst="roundRect">
            <a:avLst>
              <a:gd name="adj" fmla="val 16667"/>
            </a:avLst>
          </a:prstGeom>
          <a:solidFill>
            <a:srgbClr val="EE0033"/>
          </a:solidFill>
          <a:ln w="0">
            <a:noFill/>
          </a:ln>
        </p:spPr>
        <p:txBody>
          <a:bodyPr lIns="36000" tIns="0" rIns="36000" bIns="0" anchor="ctr"/>
          <a:lstStyle/>
          <a:p>
            <a:pPr algn="ctr">
              <a:buNone/>
            </a:pPr>
            <a:r>
              <a:rPr lang="vi-VN" sz="1100" b="1" dirty="0">
                <a:solidFill>
                  <a:srgbClr val="FFFFFF"/>
                </a:solidFill>
                <a:latin typeface="Segoe UI Semibold"/>
              </a:rPr>
              <a:t>CÁC BƯỚC SỬ DỤNG</a:t>
            </a:r>
          </a:p>
        </p:txBody>
      </p:sp>
      <p:sp>
        <p:nvSpPr>
          <p:cNvPr id="6" name="Circle"/>
          <p:cNvSpPr/>
          <p:nvPr/>
        </p:nvSpPr>
        <p:spPr>
          <a:xfrm>
            <a:off x="635000" y="762000"/>
            <a:ext cx="762000" cy="762000"/>
          </a:xfrm>
          <a:prstGeom prst="ellipse">
            <a:avLst/>
          </a:prstGeom>
          <a:solidFill>
            <a:srgbClr val="EE0033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7" name="Title"/>
          <p:cNvSpPr/>
          <p:nvPr/>
        </p:nvSpPr>
        <p:spPr>
          <a:xfrm>
            <a:off x="1587500" y="762000"/>
            <a:ext cx="6350000" cy="762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</a:pPr>
            <a:r>
              <a:rPr lang="vi-VN" sz="2800" b="1" dirty="0">
                <a:solidFill>
                  <a:srgbClr val="333333"/>
                </a:solidFill>
                <a:latin typeface="Segoe UI Semibold"/>
              </a:rPr>
              <a:t>Đăng nhập</a:t>
            </a:r>
          </a:p>
        </p:txBody>
      </p:sp>
      <p:sp>
        <p:nvSpPr>
          <p:cNvPr id="8" name="Instr"/>
          <p:cNvSpPr/>
          <p:nvPr/>
        </p:nvSpPr>
        <p:spPr>
          <a:xfrm>
            <a:off x="635000" y="1651000"/>
            <a:ext cx="6985000" cy="635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buNone/>
            </a:pPr>
            <a:r>
              <a:rPr lang="vi-VN" sz="1600" dirty="0">
                <a:solidFill>
                  <a:srgbClr val="666666"/>
                </a:solidFill>
                <a:latin typeface="Segoe UI"/>
              </a:rPr>
              <a:t>Nhập Username + Password Jira → bấm “Đăng nhập &amp; Lưu token”</a:t>
            </a:r>
          </a:p>
        </p:txBody>
      </p:sp>
      <p:sp>
        <p:nvSpPr>
          <p:cNvPr id="9" name="Screenshot"/>
          <p:cNvSpPr/>
          <p:nvPr/>
        </p:nvSpPr>
        <p:spPr>
          <a:xfrm>
            <a:off x="635000" y="2476500"/>
            <a:ext cx="10922000" cy="3556000"/>
          </a:xfrm>
          <a:prstGeom prst="roundRect">
            <a:avLst>
              <a:gd name="adj" fmla="val 3000"/>
            </a:avLst>
          </a:prstGeom>
          <a:solidFill>
            <a:srgbClr val="F9F9F9"/>
          </a:solidFill>
          <a:ln w="12700">
            <a:solidFill>
              <a:srgbClr val="DDDDDD"/>
            </a:solidFill>
            <a:prstDash val="dash"/>
          </a:ln>
        </p:spPr>
        <p:txBody>
          <a:bodyPr anchor="ctr"/>
          <a:lstStyle/>
          <a:p>
            <a:pPr algn="ctr">
              <a:buNone/>
            </a:pPr>
            <a:r>
              <a:rPr lang="vi-VN" sz="1600" dirty="0">
                <a:solidFill>
                  <a:srgbClr val="BBBBBB"/>
                </a:solidFill>
                <a:latin typeface="Segoe UI"/>
              </a:rPr>
              <a:t>[ẢNH CHỤP MÀN HÌNH: Bước đăng nhập]</a:t>
            </a:r>
          </a:p>
        </p:txBody>
      </p:sp>
    </p:spTree>
    <p:extLst>
      <p:ext uri="{BB962C8B-B14F-4D97-AF65-F5344CB8AC3E}">
        <p14:creationId xmlns:p14="http://schemas.microsoft.com/office/powerpoint/2010/main" val="2351949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dge"/>
          <p:cNvSpPr/>
          <p:nvPr/>
        </p:nvSpPr>
        <p:spPr>
          <a:xfrm>
            <a:off x="635000" y="190500"/>
            <a:ext cx="3048000" cy="355600"/>
          </a:xfrm>
          <a:prstGeom prst="roundRect">
            <a:avLst>
              <a:gd name="adj" fmla="val 16667"/>
            </a:avLst>
          </a:prstGeom>
          <a:solidFill>
            <a:srgbClr val="EE0033"/>
          </a:solidFill>
          <a:ln w="0">
            <a:noFill/>
          </a:ln>
        </p:spPr>
        <p:txBody>
          <a:bodyPr lIns="36000" tIns="0" rIns="36000" bIns="0" anchor="ctr"/>
          <a:lstStyle/>
          <a:p>
            <a:pPr algn="ctr">
              <a:buNone/>
            </a:pPr>
            <a:r>
              <a:rPr lang="vi-VN" sz="1100" b="1" dirty="0">
                <a:solidFill>
                  <a:srgbClr val="FFFFFF"/>
                </a:solidFill>
                <a:latin typeface="Segoe UI Semibold"/>
              </a:rPr>
              <a:t>CÁC BƯỚC SỬ DỤNG</a:t>
            </a:r>
          </a:p>
        </p:txBody>
      </p:sp>
      <p:sp>
        <p:nvSpPr>
          <p:cNvPr id="6" name="Circle"/>
          <p:cNvSpPr/>
          <p:nvPr/>
        </p:nvSpPr>
        <p:spPr>
          <a:xfrm>
            <a:off x="635000" y="762000"/>
            <a:ext cx="762000" cy="762000"/>
          </a:xfrm>
          <a:prstGeom prst="ellipse">
            <a:avLst/>
          </a:prstGeom>
          <a:solidFill>
            <a:srgbClr val="EE0033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7" name="Title"/>
          <p:cNvSpPr/>
          <p:nvPr/>
        </p:nvSpPr>
        <p:spPr>
          <a:xfrm>
            <a:off x="1587500" y="762000"/>
            <a:ext cx="7620000" cy="762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</a:pPr>
            <a:r>
              <a:rPr lang="vi-VN" sz="2800" b="1" dirty="0">
                <a:solidFill>
                  <a:srgbClr val="333333"/>
                </a:solidFill>
                <a:latin typeface="Segoe UI Semibold"/>
              </a:rPr>
              <a:t>Chọn dự án &amp; Quét issue</a:t>
            </a:r>
          </a:p>
        </p:txBody>
      </p:sp>
      <p:sp>
        <p:nvSpPr>
          <p:cNvPr id="8" name="Instr"/>
          <p:cNvSpPr/>
          <p:nvPr/>
        </p:nvSpPr>
        <p:spPr>
          <a:xfrm>
            <a:off x="635000" y="1651000"/>
            <a:ext cx="8890000" cy="635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buNone/>
            </a:pPr>
            <a:r>
              <a:rPr lang="vi-VN" sz="1600" dirty="0">
                <a:solidFill>
                  <a:srgbClr val="666666"/>
                </a:solidFill>
                <a:latin typeface="Segoe UI"/>
              </a:rPr>
              <a:t>Chọn Project → JQL tự sinh → bấm “Quét issue theo JQL” → xem số issue</a:t>
            </a:r>
          </a:p>
        </p:txBody>
      </p:sp>
      <p:sp>
        <p:nvSpPr>
          <p:cNvPr id="9" name="Screenshot"/>
          <p:cNvSpPr/>
          <p:nvPr/>
        </p:nvSpPr>
        <p:spPr>
          <a:xfrm>
            <a:off x="635000" y="2476500"/>
            <a:ext cx="10922000" cy="3556000"/>
          </a:xfrm>
          <a:prstGeom prst="roundRect">
            <a:avLst>
              <a:gd name="adj" fmla="val 3000"/>
            </a:avLst>
          </a:prstGeom>
          <a:solidFill>
            <a:srgbClr val="F9F9F9"/>
          </a:solidFill>
          <a:ln w="12700">
            <a:solidFill>
              <a:srgbClr val="DDDDDD"/>
            </a:solidFill>
            <a:prstDash val="dash"/>
          </a:ln>
        </p:spPr>
        <p:txBody>
          <a:bodyPr anchor="ctr"/>
          <a:lstStyle/>
          <a:p>
            <a:pPr algn="ctr">
              <a:buNone/>
            </a:pPr>
            <a:r>
              <a:rPr lang="vi-VN" sz="1600" dirty="0">
                <a:solidFill>
                  <a:srgbClr val="BBBBBB"/>
                </a:solidFill>
                <a:latin typeface="Segoe UI"/>
              </a:rPr>
              <a:t>[ẢNH CHỤP MÀN HÌNH: Chọn project và quét issue]</a:t>
            </a:r>
          </a:p>
        </p:txBody>
      </p:sp>
    </p:spTree>
    <p:extLst>
      <p:ext uri="{BB962C8B-B14F-4D97-AF65-F5344CB8AC3E}">
        <p14:creationId xmlns:p14="http://schemas.microsoft.com/office/powerpoint/2010/main" val="2480644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dge"/>
          <p:cNvSpPr/>
          <p:nvPr/>
        </p:nvSpPr>
        <p:spPr>
          <a:xfrm>
            <a:off x="635000" y="190500"/>
            <a:ext cx="3048000" cy="355600"/>
          </a:xfrm>
          <a:prstGeom prst="roundRect">
            <a:avLst>
              <a:gd name="adj" fmla="val 16667"/>
            </a:avLst>
          </a:prstGeom>
          <a:solidFill>
            <a:srgbClr val="EE0033"/>
          </a:solidFill>
          <a:ln w="0">
            <a:noFill/>
          </a:ln>
        </p:spPr>
        <p:txBody>
          <a:bodyPr lIns="36000" tIns="0" rIns="36000" bIns="0" anchor="ctr"/>
          <a:lstStyle/>
          <a:p>
            <a:pPr algn="ctr">
              <a:buNone/>
            </a:pPr>
            <a:r>
              <a:rPr lang="vi-VN" sz="1100" b="1" dirty="0">
                <a:solidFill>
                  <a:srgbClr val="FFFFFF"/>
                </a:solidFill>
                <a:latin typeface="Segoe UI Semibold"/>
              </a:rPr>
              <a:t>CÁC BƯỚC SỬ DỤNG</a:t>
            </a:r>
          </a:p>
        </p:txBody>
      </p:sp>
      <p:sp>
        <p:nvSpPr>
          <p:cNvPr id="6" name="Circle"/>
          <p:cNvSpPr/>
          <p:nvPr/>
        </p:nvSpPr>
        <p:spPr>
          <a:xfrm>
            <a:off x="635000" y="762000"/>
            <a:ext cx="762000" cy="762000"/>
          </a:xfrm>
          <a:prstGeom prst="ellipse">
            <a:avLst/>
          </a:prstGeom>
          <a:solidFill>
            <a:srgbClr val="EE0033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7" name="Title"/>
          <p:cNvSpPr/>
          <p:nvPr/>
        </p:nvSpPr>
        <p:spPr>
          <a:xfrm>
            <a:off x="1587500" y="762000"/>
            <a:ext cx="7620000" cy="762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</a:pPr>
            <a:r>
              <a:rPr lang="vi-VN" sz="2800" b="1" dirty="0">
                <a:solidFill>
                  <a:srgbClr val="333333"/>
                </a:solidFill>
                <a:latin typeface="Segoe UI Semibold"/>
              </a:rPr>
              <a:t>Cấu hình log work</a:t>
            </a:r>
          </a:p>
        </p:txBody>
      </p:sp>
      <p:sp>
        <p:nvSpPr>
          <p:cNvPr id="8" name="Instr"/>
          <p:cNvSpPr/>
          <p:nvPr/>
        </p:nvSpPr>
        <p:spPr>
          <a:xfrm>
            <a:off x="635000" y="1651000"/>
            <a:ext cx="10160000" cy="635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buNone/>
            </a:pPr>
            <a:r>
              <a:rPr lang="vi-VN" sz="1600" dirty="0">
                <a:solidFill>
                  <a:srgbClr val="666666"/>
                </a:solidFill>
                <a:latin typeface="Segoe UI"/>
              </a:rPr>
              <a:t>Chọn issue mẫu → nhập Time Spend, Remaining, Description → chọn Field Value</a:t>
            </a:r>
          </a:p>
        </p:txBody>
      </p:sp>
      <p:sp>
        <p:nvSpPr>
          <p:cNvPr id="9" name="Screenshot"/>
          <p:cNvSpPr/>
          <p:nvPr/>
        </p:nvSpPr>
        <p:spPr>
          <a:xfrm>
            <a:off x="635000" y="2476500"/>
            <a:ext cx="10922000" cy="3556000"/>
          </a:xfrm>
          <a:prstGeom prst="roundRect">
            <a:avLst>
              <a:gd name="adj" fmla="val 3000"/>
            </a:avLst>
          </a:prstGeom>
          <a:solidFill>
            <a:srgbClr val="F9F9F9"/>
          </a:solidFill>
          <a:ln w="12700">
            <a:solidFill>
              <a:srgbClr val="DDDDDD"/>
            </a:solidFill>
            <a:prstDash val="dash"/>
          </a:ln>
        </p:spPr>
        <p:txBody>
          <a:bodyPr anchor="ctr"/>
          <a:lstStyle/>
          <a:p>
            <a:pPr algn="ctr">
              <a:buNone/>
            </a:pPr>
            <a:r>
              <a:rPr lang="vi-VN" sz="1600" dirty="0">
                <a:solidFill>
                  <a:srgbClr val="BBBBBB"/>
                </a:solidFill>
                <a:latin typeface="Segoe UI"/>
              </a:rPr>
              <a:t>[ẢNH CHỤP MÀN HÌNH: Form cấu hình thông số log work]</a:t>
            </a:r>
          </a:p>
        </p:txBody>
      </p:sp>
    </p:spTree>
    <p:extLst>
      <p:ext uri="{BB962C8B-B14F-4D97-AF65-F5344CB8AC3E}">
        <p14:creationId xmlns:p14="http://schemas.microsoft.com/office/powerpoint/2010/main" val="153870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dge"/>
          <p:cNvSpPr/>
          <p:nvPr/>
        </p:nvSpPr>
        <p:spPr>
          <a:xfrm>
            <a:off x="635000" y="190500"/>
            <a:ext cx="3048000" cy="355600"/>
          </a:xfrm>
          <a:prstGeom prst="roundRect">
            <a:avLst>
              <a:gd name="adj" fmla="val 16667"/>
            </a:avLst>
          </a:prstGeom>
          <a:solidFill>
            <a:srgbClr val="EE0033"/>
          </a:solidFill>
          <a:ln w="0">
            <a:noFill/>
          </a:ln>
        </p:spPr>
        <p:txBody>
          <a:bodyPr lIns="36000" tIns="0" rIns="36000" bIns="0" anchor="ctr"/>
          <a:lstStyle/>
          <a:p>
            <a:pPr algn="ctr">
              <a:buNone/>
            </a:pPr>
            <a:r>
              <a:rPr lang="vi-VN" sz="1100" b="1" dirty="0">
                <a:solidFill>
                  <a:srgbClr val="FFFFFF"/>
                </a:solidFill>
                <a:latin typeface="Segoe UI Semibold"/>
              </a:rPr>
              <a:t>CÁC BƯỚC SỬ DỤNG</a:t>
            </a:r>
          </a:p>
        </p:txBody>
      </p:sp>
      <p:sp>
        <p:nvSpPr>
          <p:cNvPr id="6" name="Circle"/>
          <p:cNvSpPr/>
          <p:nvPr/>
        </p:nvSpPr>
        <p:spPr>
          <a:xfrm>
            <a:off x="635000" y="762000"/>
            <a:ext cx="762000" cy="762000"/>
          </a:xfrm>
          <a:prstGeom prst="ellipse">
            <a:avLst/>
          </a:prstGeom>
          <a:solidFill>
            <a:srgbClr val="EE0033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7" name="Title"/>
          <p:cNvSpPr/>
          <p:nvPr/>
        </p:nvSpPr>
        <p:spPr>
          <a:xfrm>
            <a:off x="1587500" y="762000"/>
            <a:ext cx="6350000" cy="762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</a:pPr>
            <a:r>
              <a:rPr lang="vi-VN" sz="2800" b="1" dirty="0">
                <a:solidFill>
                  <a:srgbClr val="333333"/>
                </a:solidFill>
                <a:latin typeface="Segoe UI Semibold"/>
              </a:rPr>
              <a:t>Thực thi</a:t>
            </a:r>
          </a:p>
        </p:txBody>
      </p:sp>
      <p:sp>
        <p:nvSpPr>
          <p:cNvPr id="8" name="Instr"/>
          <p:cNvSpPr/>
          <p:nvPr/>
        </p:nvSpPr>
        <p:spPr>
          <a:xfrm>
            <a:off x="635000" y="1651000"/>
            <a:ext cx="10922000" cy="635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buNone/>
            </a:pPr>
            <a:r>
              <a:rPr lang="vi-VN" sz="1600" dirty="0">
                <a:solidFill>
                  <a:srgbClr val="666666"/>
                </a:solidFill>
                <a:latin typeface="Segoe UI"/>
              </a:rPr>
              <a:t>Bấm “Tất cả issue” hoặc “Chỉ issue đang chọn” → theo dõi tiến trình → hoàn tất!</a:t>
            </a:r>
          </a:p>
        </p:txBody>
      </p:sp>
      <p:sp>
        <p:nvSpPr>
          <p:cNvPr id="9" name="Screenshot"/>
          <p:cNvSpPr/>
          <p:nvPr/>
        </p:nvSpPr>
        <p:spPr>
          <a:xfrm>
            <a:off x="635000" y="2476500"/>
            <a:ext cx="10922000" cy="3556000"/>
          </a:xfrm>
          <a:prstGeom prst="roundRect">
            <a:avLst>
              <a:gd name="adj" fmla="val 3000"/>
            </a:avLst>
          </a:prstGeom>
          <a:solidFill>
            <a:srgbClr val="F9F9F9"/>
          </a:solidFill>
          <a:ln w="12700">
            <a:solidFill>
              <a:srgbClr val="DDDDDD"/>
            </a:solidFill>
            <a:prstDash val="dash"/>
          </a:ln>
        </p:spPr>
        <p:txBody>
          <a:bodyPr anchor="ctr"/>
          <a:lstStyle/>
          <a:p>
            <a:pPr algn="ctr">
              <a:buNone/>
            </a:pPr>
            <a:r>
              <a:rPr lang="vi-VN" sz="1600" dirty="0">
                <a:solidFill>
                  <a:srgbClr val="BBBBBB"/>
                </a:solidFill>
                <a:latin typeface="Segoe UI"/>
              </a:rPr>
              <a:t>[ẢNH CHỤP MÀN HÌNH: Thực thi và thanh tiến trình]</a:t>
            </a:r>
          </a:p>
        </p:txBody>
      </p:sp>
    </p:spTree>
    <p:extLst>
      <p:ext uri="{BB962C8B-B14F-4D97-AF65-F5344CB8AC3E}">
        <p14:creationId xmlns:p14="http://schemas.microsoft.com/office/powerpoint/2010/main" val="4071870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/>
          <p:nvPr/>
        </p:nvSpPr>
        <p:spPr>
          <a:xfrm>
            <a:off x="635000" y="381000"/>
            <a:ext cx="10922000" cy="762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buNone/>
            </a:pPr>
            <a:r>
              <a:rPr lang="vi-VN" sz="3200" b="1" dirty="0">
                <a:solidFill>
                  <a:srgbClr val="EE0033"/>
                </a:solidFill>
                <a:latin typeface="Segoe UI Semibold"/>
              </a:rPr>
              <a:t>Mẹo và Lưu ý</a:t>
            </a:r>
          </a:p>
        </p:txBody>
      </p:sp>
      <p:sp>
        <p:nvSpPr>
          <p:cNvPr id="10" name="Tip0"/>
          <p:cNvSpPr/>
          <p:nvPr/>
        </p:nvSpPr>
        <p:spPr>
          <a:xfrm>
            <a:off x="1016000" y="2349500"/>
            <a:ext cx="3048000" cy="1714500"/>
          </a:xfrm>
          <a:prstGeom prst="roundRect">
            <a:avLst>
              <a:gd name="adj" fmla="val 5000"/>
            </a:avLst>
          </a:prstGeom>
          <a:solidFill>
            <a:srgbClr val="FFF5F5"/>
          </a:solidFill>
          <a:ln w="9525">
            <a:solidFill>
              <a:srgbClr val="EE0033">
                <a:alpha val="20000"/>
              </a:srgbClr>
            </a:solidFill>
          </a:ln>
        </p:spPr>
        <p:txBody>
          <a:bodyPr lIns="90000" tIns="54000" rIns="90000" bIns="54000" anchor="ctr"/>
          <a:lstStyle/>
          <a:p>
            <a:pPr>
              <a:buNone/>
            </a:pPr>
            <a:r>
              <a:rPr lang="vi-VN" sz="1600" b="1" dirty="0">
                <a:solidFill>
                  <a:srgbClr val="333333"/>
                </a:solidFill>
                <a:latin typeface="Segoe UI Semibold"/>
              </a:rPr>
              <a:t>Mạng Viettel</a:t>
            </a:r>
          </a:p>
          <a:p>
            <a:pPr>
              <a:buNone/>
            </a:pPr>
            <a:r>
              <a:rPr lang="vi-VN" sz="1400" dirty="0">
                <a:solidFill>
                  <a:srgbClr val="666666"/>
                </a:solidFill>
                <a:latin typeface="Segoe UI"/>
              </a:rPr>
              <a:t>Chỉ truy cập trong mạng nội bộ.</a:t>
            </a:r>
          </a:p>
        </p:txBody>
      </p:sp>
      <p:sp>
        <p:nvSpPr>
          <p:cNvPr id="11" name="Tip1"/>
          <p:cNvSpPr/>
          <p:nvPr/>
        </p:nvSpPr>
        <p:spPr>
          <a:xfrm>
            <a:off x="4572000" y="2349500"/>
            <a:ext cx="3048000" cy="1714500"/>
          </a:xfrm>
          <a:prstGeom prst="roundRect">
            <a:avLst>
              <a:gd name="adj" fmla="val 5000"/>
            </a:avLst>
          </a:prstGeom>
          <a:solidFill>
            <a:srgbClr val="FFF5F5"/>
          </a:solidFill>
          <a:ln w="9525">
            <a:solidFill>
              <a:srgbClr val="EE0033">
                <a:alpha val="20000"/>
              </a:srgbClr>
            </a:solidFill>
          </a:ln>
        </p:spPr>
        <p:txBody>
          <a:bodyPr lIns="90000" tIns="54000" rIns="90000" bIns="54000" anchor="ctr"/>
          <a:lstStyle/>
          <a:p>
            <a:pPr>
              <a:buNone/>
            </a:pPr>
            <a:r>
              <a:rPr lang="vi-VN" sz="1600" b="1" dirty="0">
                <a:solidFill>
                  <a:srgbClr val="333333"/>
                </a:solidFill>
                <a:latin typeface="Segoe UI Semibold"/>
              </a:rPr>
              <a:t>Token theo phiên</a:t>
            </a:r>
          </a:p>
          <a:p>
            <a:pPr>
              <a:buNone/>
            </a:pPr>
            <a:r>
              <a:rPr lang="vi-VN" sz="1400" dirty="0">
                <a:solidFill>
                  <a:srgbClr val="666666"/>
                </a:solidFill>
                <a:latin typeface="Segoe UI"/>
              </a:rPr>
              <a:t>Đóng tab là mất token; không lưu máy chủ.</a:t>
            </a:r>
          </a:p>
        </p:txBody>
      </p:sp>
      <p:sp>
        <p:nvSpPr>
          <p:cNvPr id="12" name="Tip2"/>
          <p:cNvSpPr/>
          <p:nvPr/>
        </p:nvSpPr>
        <p:spPr>
          <a:xfrm>
            <a:off x="8128000" y="2349500"/>
            <a:ext cx="3048000" cy="1714500"/>
          </a:xfrm>
          <a:prstGeom prst="roundRect">
            <a:avLst>
              <a:gd name="adj" fmla="val 5000"/>
            </a:avLst>
          </a:prstGeom>
          <a:solidFill>
            <a:srgbClr val="FFF5F5"/>
          </a:solidFill>
          <a:ln w="9525">
            <a:solidFill>
              <a:srgbClr val="EE0033">
                <a:alpha val="20000"/>
              </a:srgbClr>
            </a:solidFill>
          </a:ln>
        </p:spPr>
        <p:txBody>
          <a:bodyPr lIns="90000" tIns="54000" rIns="90000" bIns="54000" anchor="ctr"/>
          <a:lstStyle/>
          <a:p>
            <a:pPr>
              <a:buNone/>
            </a:pPr>
            <a:r>
              <a:rPr lang="vi-VN" sz="1600" b="1" dirty="0">
                <a:solidFill>
                  <a:srgbClr val="333333"/>
                </a:solidFill>
                <a:latin typeface="Segoe UI Semibold"/>
              </a:rPr>
              <a:t>Kiểm tra trước</a:t>
            </a:r>
          </a:p>
          <a:p>
            <a:pPr>
              <a:buNone/>
            </a:pPr>
            <a:r>
              <a:rPr lang="vi-VN" sz="1400" dirty="0">
                <a:solidFill>
                  <a:srgbClr val="666666"/>
                </a:solidFill>
                <a:latin typeface="Segoe UI"/>
              </a:rPr>
              <a:t>Xem chi tiết issue trước khi bấm “tất cả”.</a:t>
            </a:r>
          </a:p>
        </p:txBody>
      </p:sp>
      <p:sp>
        <p:nvSpPr>
          <p:cNvPr id="2" name="TipMarker1">
            <a:extLst>
              <a:ext uri="{FF2B5EF4-FFF2-40B4-BE49-F238E27FC236}">
                <a16:creationId xmlns:a16="http://schemas.microsoft.com/office/drawing/2014/main" id="{1A4E88C8-C843-426C-AB09-9262C03B6629}"/>
              </a:ext>
            </a:extLst>
          </p:cNvPr>
          <p:cNvSpPr/>
          <p:nvPr/>
        </p:nvSpPr>
        <p:spPr>
          <a:xfrm>
            <a:off x="2235200" y="1714500"/>
            <a:ext cx="609600" cy="609600"/>
          </a:xfrm>
          <a:prstGeom prst="ellipse">
            <a:avLst/>
          </a:prstGeom>
          <a:solidFill>
            <a:srgbClr val="EE003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" name="TipMarker2">
            <a:extLst>
              <a:ext uri="{FF2B5EF4-FFF2-40B4-BE49-F238E27FC236}">
                <a16:creationId xmlns:a16="http://schemas.microsoft.com/office/drawing/2014/main" id="{10927950-B50D-4E3F-811E-AD887A923CB6}"/>
              </a:ext>
            </a:extLst>
          </p:cNvPr>
          <p:cNvSpPr/>
          <p:nvPr/>
        </p:nvSpPr>
        <p:spPr>
          <a:xfrm>
            <a:off x="5791200" y="1714500"/>
            <a:ext cx="609600" cy="609600"/>
          </a:xfrm>
          <a:prstGeom prst="ellipse">
            <a:avLst/>
          </a:prstGeom>
          <a:solidFill>
            <a:srgbClr val="EE003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" name="TipMarker3">
            <a:extLst>
              <a:ext uri="{FF2B5EF4-FFF2-40B4-BE49-F238E27FC236}">
                <a16:creationId xmlns:a16="http://schemas.microsoft.com/office/drawing/2014/main" id="{9A763160-B549-4529-B1FB-DB4EDBBD7970}"/>
              </a:ext>
            </a:extLst>
          </p:cNvPr>
          <p:cNvSpPr/>
          <p:nvPr/>
        </p:nvSpPr>
        <p:spPr>
          <a:xfrm>
            <a:off x="9347200" y="1714500"/>
            <a:ext cx="609600" cy="609600"/>
          </a:xfrm>
          <a:prstGeom prst="ellipse">
            <a:avLst/>
          </a:prstGeom>
          <a:solidFill>
            <a:srgbClr val="EE003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95037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opBar"/>
          <p:cNvSpPr/>
          <p:nvPr/>
        </p:nvSpPr>
        <p:spPr>
          <a:xfrm>
            <a:off x="4191000" y="1651000"/>
            <a:ext cx="3810000" cy="50800"/>
          </a:xfrm>
          <a:prstGeom prst="rect">
            <a:avLst/>
          </a:prstGeom>
          <a:solidFill>
            <a:srgbClr val="EE003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itle"/>
          <p:cNvSpPr/>
          <p:nvPr/>
        </p:nvSpPr>
        <p:spPr>
          <a:xfrm>
            <a:off x="1270000" y="1905000"/>
            <a:ext cx="9652000" cy="1016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buNone/>
            </a:pPr>
            <a:r>
              <a:rPr lang="vi-VN" sz="4000" b="1" dirty="0">
                <a:solidFill>
                  <a:srgbClr val="EE0033"/>
                </a:solidFill>
                <a:latin typeface="Segoe UI Semibold"/>
              </a:rPr>
              <a:t>Bắt đầu sử dụng ngay!</a:t>
            </a:r>
          </a:p>
        </p:txBody>
      </p:sp>
      <p:sp>
        <p:nvSpPr>
          <p:cNvPr id="7" name="BottomBar"/>
          <p:cNvSpPr/>
          <p:nvPr/>
        </p:nvSpPr>
        <p:spPr>
          <a:xfrm>
            <a:off x="4191000" y="3048000"/>
            <a:ext cx="3810000" cy="50800"/>
          </a:xfrm>
          <a:prstGeom prst="rect">
            <a:avLst/>
          </a:prstGeom>
          <a:solidFill>
            <a:srgbClr val="EE003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URL"/>
          <p:cNvSpPr/>
          <p:nvPr/>
        </p:nvSpPr>
        <p:spPr>
          <a:xfrm>
            <a:off x="2921000" y="3429000"/>
            <a:ext cx="6350000" cy="635000"/>
          </a:xfrm>
          <a:prstGeom prst="roundRect">
            <a:avLst>
              <a:gd name="adj" fmla="val 16667"/>
            </a:avLst>
          </a:prstGeom>
          <a:solidFill>
            <a:srgbClr val="EE0033"/>
          </a:solidFill>
          <a:ln w="0">
            <a:noFill/>
          </a:ln>
        </p:spPr>
        <p:txBody>
          <a:bodyPr lIns="72000" rIns="7200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</a:rPr>
              <a:t>http://10.110.10.202:3005</a:t>
            </a:r>
          </a:p>
        </p:txBody>
      </p:sp>
      <p:sp>
        <p:nvSpPr>
          <p:cNvPr id="9" name="Logo"/>
          <p:cNvSpPr/>
          <p:nvPr/>
        </p:nvSpPr>
        <p:spPr>
          <a:xfrm>
            <a:off x="4508500" y="4381500"/>
            <a:ext cx="3175000" cy="571500"/>
          </a:xfrm>
          <a:prstGeom prst="roundRect">
            <a:avLst>
              <a:gd name="adj" fmla="val 10000"/>
            </a:avLst>
          </a:prstGeom>
          <a:solidFill>
            <a:srgbClr val="F9F9F9"/>
          </a:solidFill>
          <a:ln w="9525">
            <a:solidFill>
              <a:srgbClr val="DDDDDD"/>
            </a:solidFill>
            <a:prstDash val="dash"/>
          </a:ln>
        </p:spPr>
        <p:txBody>
          <a:bodyPr anchor="ctr"/>
          <a:lstStyle/>
          <a:p>
            <a:pPr algn="ctr">
              <a:buNone/>
            </a:pPr>
            <a:r>
              <a:rPr lang="vi-VN" sz="1400" dirty="0">
                <a:solidFill>
                  <a:srgbClr val="BBBBBB"/>
                </a:solidFill>
                <a:latin typeface="Segoe UI"/>
              </a:rPr>
              <a:t>[LOGO VIETTEL]</a:t>
            </a:r>
          </a:p>
        </p:txBody>
      </p:sp>
      <p:sp>
        <p:nvSpPr>
          <p:cNvPr id="10" name="Footer"/>
          <p:cNvSpPr/>
          <p:nvPr/>
        </p:nvSpPr>
        <p:spPr>
          <a:xfrm>
            <a:off x="1270000" y="5207000"/>
            <a:ext cx="9652000" cy="508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buNone/>
            </a:pPr>
            <a:r>
              <a:rPr lang="vi-VN" sz="1400" dirty="0">
                <a:solidFill>
                  <a:srgbClr val="999999"/>
                </a:solidFill>
                <a:latin typeface="Segoe UI"/>
              </a:rPr>
              <a:t>Jira Log Work Tool v1.0.0 — Chỉ sử dụng trong mạng nội bộ</a:t>
            </a:r>
          </a:p>
        </p:txBody>
      </p:sp>
    </p:spTree>
    <p:extLst>
      <p:ext uri="{BB962C8B-B14F-4D97-AF65-F5344CB8AC3E}">
        <p14:creationId xmlns:p14="http://schemas.microsoft.com/office/powerpoint/2010/main" val="2113934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0141760507]">
  <a:themeElements>
    <a:clrScheme name="Viettel">
      <a:dk1>
        <a:srgbClr val="333333"/>
      </a:dk1>
      <a:lt1>
        <a:srgbClr val="FFFFFF"/>
      </a:lt1>
      <a:dk2>
        <a:srgbClr val="555555"/>
      </a:dk2>
      <a:lt2>
        <a:srgbClr val="F5F5F5"/>
      </a:lt2>
      <a:accent1>
        <a:srgbClr val="EE0033"/>
      </a:accent1>
      <a:accent2>
        <a:srgbClr val="CC002B"/>
      </a:accent2>
      <a:accent3>
        <a:srgbClr val="FF4D6A"/>
      </a:accent3>
      <a:accent4>
        <a:srgbClr val="333333"/>
      </a:accent4>
      <a:accent5>
        <a:srgbClr val="666666"/>
      </a:accent5>
      <a:accent6>
        <a:srgbClr val="999999"/>
      </a:accent6>
      <a:hlink>
        <a:srgbClr val="467886"/>
      </a:hlink>
      <a:folHlink>
        <a:srgbClr val="96607D"/>
      </a:folHlink>
    </a:clrScheme>
    <a:fontScheme name="Viettel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80" row="0">
    <wetp:webextensionref xmlns:r="http://schemas.openxmlformats.org/officeDocument/2006/relationships" r:id="rId1"/>
  </wetp:taskpane>
  <wetp:taskpane dockstate="right" visibility="0" width="350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ECB9E8D-712F-4485-9889-7A9618305BDF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1381a1c9-cc48-43c7-8182-63b2a28fe3e1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F929E2E-C0F2-4E2D-9031-03B11F8F050D}">
  <we:reference id="WA200010215" version="2.0.0.0" store="Omex" storeType="OMEX"/>
  <we:alternateReferences>
    <we:reference id="WA200010215" version="2.0.0.0" store="WA20001021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537</Words>
  <Application>Microsoft Office PowerPoint</Application>
  <PresentationFormat>Widescreen</PresentationFormat>
  <Paragraphs>94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Consolas</vt:lpstr>
      <vt:lpstr>Segoe UI</vt:lpstr>
      <vt:lpstr>Segoe UI Semibold</vt:lpstr>
      <vt:lpstr>Office Theme [1780141760507]</vt:lpstr>
      <vt:lpstr>Jira Log Work Tool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Nguyễn Tấn Đông (476361)</dc:creator>
  <cp:lastModifiedBy>Nguyễn Tấn Đông (476361)</cp:lastModifiedBy>
  <cp:revision>3</cp:revision>
  <dcterms:created xsi:type="dcterms:W3CDTF">2026-05-30T11:34:57Z</dcterms:created>
  <dcterms:modified xsi:type="dcterms:W3CDTF">2026-05-30T12:14:49Z</dcterms:modified>
</cp:coreProperties>
</file>